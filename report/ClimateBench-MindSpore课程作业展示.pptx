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83406d80774b18" /><Relationship Type="http://schemas.openxmlformats.org/officeDocument/2006/relationships/extended-properties" Target="/docProps/app.xml" Id="R97179a4a9c634ed9" /><Relationship Type="http://schemas.openxmlformats.org/officeDocument/2006/relationships/officeDocument" Target="/ppt/presentation.xml" Id="R3d0b6a4a45d94e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904f9824504b63"/>
  </p:sldMasterIdLst>
  <p:notesMasterIdLst>
    <p:notesMasterId xmlns:r="http://schemas.openxmlformats.org/officeDocument/2006/relationships" r:id="R63fdb197009d4038"/>
  </p:notesMasterIdLst>
  <p:sldIdLst>
    <p:sldId xmlns:r="http://schemas.openxmlformats.org/officeDocument/2006/relationships" id="256" r:id="Rafb4b39152674249"/>
    <p:sldId xmlns:r="http://schemas.openxmlformats.org/officeDocument/2006/relationships" id="257" r:id="R2e6f7b8c45d743ed"/>
    <p:sldId xmlns:r="http://schemas.openxmlformats.org/officeDocument/2006/relationships" id="258" r:id="Rb88e38842ed04453"/>
    <p:sldId xmlns:r="http://schemas.openxmlformats.org/officeDocument/2006/relationships" id="259" r:id="R2b35b27252344d47"/>
    <p:sldId xmlns:r="http://schemas.openxmlformats.org/officeDocument/2006/relationships" id="260" r:id="R9cc1e2e224a84419"/>
    <p:sldId xmlns:r="http://schemas.openxmlformats.org/officeDocument/2006/relationships" id="261" r:id="R9f48cc977a274d37"/>
    <p:sldId xmlns:r="http://schemas.openxmlformats.org/officeDocument/2006/relationships" id="262" r:id="R5715798c7166476b"/>
    <p:sldId xmlns:r="http://schemas.openxmlformats.org/officeDocument/2006/relationships" id="263" r:id="R073f21f580a44054"/>
    <p:sldId xmlns:r="http://schemas.openxmlformats.org/officeDocument/2006/relationships" id="264" r:id="R5eca00a4409842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68cd5ae9ef40f8" /><Relationship Type="http://schemas.openxmlformats.org/officeDocument/2006/relationships/slideMaster" Target="/ppt/slideMasters/slideMaster1.xml" Id="R9e904f9824504b63" /><Relationship Type="http://schemas.openxmlformats.org/officeDocument/2006/relationships/notesMaster" Target="/ppt/notesMasters/notesMaster1.xml" Id="R63fdb197009d4038" /><Relationship Type="http://schemas.openxmlformats.org/officeDocument/2006/relationships/presProps" Target="/ppt/presProps.xml" Id="Rb9257729a4cf4d7a" /><Relationship Type="http://schemas.openxmlformats.org/officeDocument/2006/relationships/tableStyles" Target="/ppt/tableStyles.xml" Id="R7ec5de5429874c0c" /><Relationship Type="http://schemas.openxmlformats.org/officeDocument/2006/relationships/slide" Target="/ppt/slides/slide1.xml" Id="Rafb4b39152674249" /><Relationship Type="http://schemas.openxmlformats.org/officeDocument/2006/relationships/slide" Target="/ppt/slides/slide2.xml" Id="R2e6f7b8c45d743ed" /><Relationship Type="http://schemas.openxmlformats.org/officeDocument/2006/relationships/slide" Target="/ppt/slides/slide3.xml" Id="Rb88e38842ed04453" /><Relationship Type="http://schemas.openxmlformats.org/officeDocument/2006/relationships/slide" Target="/ppt/slides/slide4.xml" Id="R2b35b27252344d47" /><Relationship Type="http://schemas.openxmlformats.org/officeDocument/2006/relationships/slide" Target="/ppt/slides/slide5.xml" Id="R9cc1e2e224a84419" /><Relationship Type="http://schemas.openxmlformats.org/officeDocument/2006/relationships/slide" Target="/ppt/slides/slide6.xml" Id="R9f48cc977a274d37" /><Relationship Type="http://schemas.openxmlformats.org/officeDocument/2006/relationships/slide" Target="/ppt/slides/slide7.xml" Id="R5715798c7166476b" /><Relationship Type="http://schemas.openxmlformats.org/officeDocument/2006/relationships/slide" Target="/ppt/slides/slide8.xml" Id="R073f21f580a44054" /><Relationship Type="http://schemas.openxmlformats.org/officeDocument/2006/relationships/slide" Target="/ppt/slides/slide9.xml" Id="R5eca00a4409842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7cf708ddb747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d76f7a45234cdd" /><Relationship Type="http://schemas.openxmlformats.org/officeDocument/2006/relationships/notesMaster" Target="/ppt/notesMasters/notesMaster1.xml" Id="Re46491f9014745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e19bcd740a4102" /><Relationship Type="http://schemas.openxmlformats.org/officeDocument/2006/relationships/notesMaster" Target="/ppt/notesMasters/notesMaster1.xml" Id="Rc04eb568255949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d281de4247455d" /><Relationship Type="http://schemas.openxmlformats.org/officeDocument/2006/relationships/notesMaster" Target="/ppt/notesMasters/notesMaster1.xml" Id="R4316db2779444e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64bd08806d4158" /><Relationship Type="http://schemas.openxmlformats.org/officeDocument/2006/relationships/notesMaster" Target="/ppt/notesMasters/notesMaster1.xml" Id="R4412c4aaeb0e4e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e945559abb4f78" /><Relationship Type="http://schemas.openxmlformats.org/officeDocument/2006/relationships/notesMaster" Target="/ppt/notesMasters/notesMaster1.xml" Id="R57eae96edb0c4e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6dcce4b2ed4225" /><Relationship Type="http://schemas.openxmlformats.org/officeDocument/2006/relationships/notesMaster" Target="/ppt/notesMasters/notesMaster1.xml" Id="R3c05c6ce1f7c4b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f6a51c776e4628" /><Relationship Type="http://schemas.openxmlformats.org/officeDocument/2006/relationships/notesMaster" Target="/ppt/notesMasters/notesMaster1.xml" Id="R64c46a044da54c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dd8ad24cfb44f9" /><Relationship Type="http://schemas.openxmlformats.org/officeDocument/2006/relationships/notesMaster" Target="/ppt/notesMasters/notesMaster1.xml" Id="R274358733f7645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9f7f9ccf2a4af8" /><Relationship Type="http://schemas.openxmlformats.org/officeDocument/2006/relationships/notesMaster" Target="/ppt/notesMasters/notesMaster1.xml" Id="Rc77a8f3d3e2541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61347ad3e45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f73cfb2bd3428b" /><Relationship Type="http://schemas.openxmlformats.org/officeDocument/2006/relationships/slideLayout" Target="/ppt/slideLayouts/slideLayout1.xml" Id="R06e5677231984d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e5677231984d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fd794cccf4a7a" /><Relationship Type="http://schemas.openxmlformats.org/officeDocument/2006/relationships/image" Target="/ppt/media/image.png" Id="R59879d73f98840d0" /><Relationship Type="http://schemas.openxmlformats.org/officeDocument/2006/relationships/notesSlide" Target="/ppt/notesSlides/notesSlide1.xml" Id="R57ca379d64aa46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11e41ed86465e" /><Relationship Type="http://schemas.openxmlformats.org/officeDocument/2006/relationships/notesSlide" Target="/ppt/notesSlides/notesSlide2.xml" Id="R5ceb2995e92c4f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411f8d1cc465d" /><Relationship Type="http://schemas.openxmlformats.org/officeDocument/2006/relationships/notesSlide" Target="/ppt/notesSlides/notesSlide3.xml" Id="R245e4da426ef48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1ebcad79a42c1" /><Relationship Type="http://schemas.openxmlformats.org/officeDocument/2006/relationships/notesSlide" Target="/ppt/notesSlides/notesSlide4.xml" Id="R50dd5df3673546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683d1ef954199" /><Relationship Type="http://schemas.openxmlformats.org/officeDocument/2006/relationships/notesSlide" Target="/ppt/notesSlides/notesSlide5.xml" Id="Rd7fbf491b04d49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290be19c944b9" /><Relationship Type="http://schemas.openxmlformats.org/officeDocument/2006/relationships/chart" Target="/ppt/slides/charts/chart1.xml" Id="R467a5ae74234495e" /><Relationship Type="http://schemas.openxmlformats.org/officeDocument/2006/relationships/notesSlide" Target="/ppt/notesSlides/notesSlide6.xml" Id="R5058ecce438c4b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3e181ab4e4e6d" /><Relationship Type="http://schemas.openxmlformats.org/officeDocument/2006/relationships/image" Target="/ppt/media/image2.png" Id="R65020c03e1c941b3" /><Relationship Type="http://schemas.openxmlformats.org/officeDocument/2006/relationships/image" Target="/ppt/media/image3.png" Id="Rb4d54fb802a04e68" /><Relationship Type="http://schemas.openxmlformats.org/officeDocument/2006/relationships/image" Target="/ppt/media/image4.png" Id="Raa19e5ec4dd94683" /><Relationship Type="http://schemas.openxmlformats.org/officeDocument/2006/relationships/notesSlide" Target="/ppt/notesSlides/notesSlide7.xml" Id="R1ae077594c7349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845f49baf45ac" /><Relationship Type="http://schemas.openxmlformats.org/officeDocument/2006/relationships/image" Target="/ppt/media/image5.png" Id="Re274699b78ee4d23" /><Relationship Type="http://schemas.openxmlformats.org/officeDocument/2006/relationships/image" Target="/ppt/media/image6.png" Id="R05799a8e9304454a" /><Relationship Type="http://schemas.openxmlformats.org/officeDocument/2006/relationships/image" Target="/ppt/media/image7.png" Id="Rc7c42a5b00074beb" /><Relationship Type="http://schemas.openxmlformats.org/officeDocument/2006/relationships/notesSlide" Target="/ppt/notesSlides/notesSlide8.xml" Id="R7979c5dec1cf4c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9625df990458d" /><Relationship Type="http://schemas.openxmlformats.org/officeDocument/2006/relationships/notesSlide" Target="/ppt/notesSlides/notesSlide9.xml" Id="R6671e7d9a4c94565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Total 百分比差值</c:v>
          </c:tx>
          <c:spPr>
            <a:solidFill xmlns:a="http://schemas.openxmlformats.org/drawingml/2006/main">
              <a:srgbClr val="20C6B7"/>
            </a:solidFill>
          </c:spPr>
          <c:invertIfNegative val="0"/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tas</c:v>
              </c:pt>
              <c:pt idx="1">
                <c:v>pr</c:v>
              </c:pt>
              <c:pt idx="2">
                <c:v>DTR</c:v>
              </c:pt>
              <c:pt idx="3">
                <c:v>pr90</c:v>
              </c:pt>
            </c:strLit>
          </c:cat>
          <c:val>
            <c:numLit>
              <c:formatCode>General</c:formatCode>
              <c:ptCount val="4"/>
              <c:pt idx="0">
                <c:v>0.02</c:v>
              </c:pt>
              <c:pt idx="1">
                <c:v>-4.77</c:v>
              </c:pt>
              <c:pt idx="2">
                <c:v>-16.39</c:v>
              </c:pt>
              <c:pt idx="3">
                <c:v>-8.06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8344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7EE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670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7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8344A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A2B170D4-B90F-42E3-A4E0-F509129C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C6B7"/>
                </a:solidFill>
              </a:defRPr>
            </a:pPr>
            <a:r>
              <a:rPr sz="1200" b="1">
                <a:solidFill>
                  <a:srgbClr val="20C6B7"/>
                </a:solidFill>
              </a:rPr>
              <a:t>AI 学习框架与科学计算</a:t>
            </a:r>
          </a:p>
        </p:txBody>
      </p:sp>
      <p:sp>
        <p:nvSpPr>
          <p:cNvPr id="2" name="main-title">
            <a:extLst xmlns:a="http://schemas.openxmlformats.org/drawingml/2006/main">
              <a:ext uri="{FF2B5EF4-FFF2-40B4-BE49-F238E27FC236}">
                <a16:creationId xmlns:a16="http://schemas.microsoft.com/office/drawing/2014/main" id="{22A28337-E529-4467-8599-B4F83AAD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F8FC"/>
                </a:solidFill>
              </a:defRPr>
            </a:pPr>
            <a:r>
              <a:rPr sz="4050" b="1">
                <a:solidFill>
                  <a:srgbClr val="F4F8FC"/>
                </a:solidFill>
              </a:rPr>
              <a:t>ClimateBench</a:t>
            </a:r>
          </a:p>
          <a:p xmlns:a="http://schemas.openxmlformats.org/drawingml/2006/main">
            <a:pPr algn="l">
              <a:defRPr sz="4050" b="1">
                <a:solidFill>
                  <a:srgbClr val="F4F8FC"/>
                </a:solidFill>
              </a:defRPr>
            </a:pPr>
            <a:r>
              <a:rPr sz="4050" b="1">
                <a:solidFill>
                  <a:srgbClr val="F4F8FC"/>
                </a:solidFill>
              </a:rPr>
              <a:t>MindSpore 复现</a:t>
            </a:r>
          </a:p>
        </p:txBody>
      </p:sp>
      <p:sp>
        <p:nvSpPr>
          <p:cNvPr id="3" name="main-subtitle">
            <a:extLst xmlns:a="http://schemas.openxmlformats.org/drawingml/2006/main">
              <a:ext uri="{FF2B5EF4-FFF2-40B4-BE49-F238E27FC236}">
                <a16:creationId xmlns:a16="http://schemas.microsoft.com/office/drawing/2014/main" id="{403509D8-B1E9-42A8-BDFD-CD636960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7BBCB"/>
                </a:solidFill>
              </a:defRPr>
            </a:pPr>
            <a:r>
              <a:rPr sz="1800" b="0">
                <a:solidFill>
                  <a:srgbClr val="A7BBCB"/>
                </a:solidFill>
              </a:rPr>
              <a:t>CNN-LSTM 气候仿真器：从外部强迫到全球格点预测</a:t>
            </a:r>
          </a:p>
        </p:txBody>
      </p:sp>
      <p:sp>
        <p:nvSpPr>
          <p:cNvPr id="4" name="main-tag">
            <a:extLst xmlns:a="http://schemas.openxmlformats.org/drawingml/2006/main">
              <a:ext uri="{FF2B5EF4-FFF2-40B4-BE49-F238E27FC236}">
                <a16:creationId xmlns:a16="http://schemas.microsoft.com/office/drawing/2014/main" id="{37A19F03-4BEF-4746-B713-00C57234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A72"/>
                </a:solidFill>
              </a:defRPr>
            </a:pPr>
            <a:r>
              <a:rPr sz="1350" b="1">
                <a:solidFill>
                  <a:srgbClr val="FFCA72"/>
                </a:solidFill>
              </a:rPr>
              <a:t>课程大作业展示</a:t>
            </a:r>
          </a:p>
        </p:txBody>
      </p:sp>
      <p:sp>
        <p:nvSpPr>
          <p:cNvPr id="5" name="title-image-frame">
            <a:extLst xmlns:a="http://schemas.openxmlformats.org/drawingml/2006/main">
              <a:ext uri="{FF2B5EF4-FFF2-40B4-BE49-F238E27FC236}">
                <a16:creationId xmlns:a16="http://schemas.microsoft.com/office/drawing/2014/main" id="{0A20634B-9855-4603-84CD-467B0EF9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04850"/>
            <a:ext cx="5314950" cy="4762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79d73f98840d0"/>
          <a:stretch xmlns:a="http://schemas.openxmlformats.org/drawingml/2006/main"/>
        </p:blipFill>
        <p:spPr>
          <a:xfrm xmlns:a="http://schemas.openxmlformats.org/drawingml/2006/main">
            <a:off x="6438900" y="1676400"/>
            <a:ext cx="4819650" cy="2409825"/>
          </a:xfrm>
          <a:prstGeom xmlns:a="http://schemas.openxmlformats.org/drawingml/2006/main" prst="rect">
            <a:avLst/>
          </a:prstGeom>
        </p:spPr>
      </p:pic>
      <p:sp>
        <p:nvSpPr>
          <p:cNvPr id="7" name="title-image-note">
            <a:extLst xmlns:a="http://schemas.openxmlformats.org/drawingml/2006/main">
              <a:ext uri="{FF2B5EF4-FFF2-40B4-BE49-F238E27FC236}">
                <a16:creationId xmlns:a16="http://schemas.microsoft.com/office/drawing/2014/main" id="{7DE24EE9-F0A7-4386-95C2-36D2DAE0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720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9445D"/>
                </a:solidFill>
              </a:defRPr>
            </a:pPr>
            <a:r>
              <a:rPr sz="1200" b="1">
                <a:solidFill>
                  <a:srgbClr val="29445D"/>
                </a:solidFill>
              </a:rPr>
              <a:t>SSP245 · 2100 年近地表气温异常预测</a:t>
            </a:r>
          </a:p>
        </p:txBody>
      </p:sp>
      <p:sp>
        <p:nvSpPr>
          <p:cNvPr id="8" name="title-footer">
            <a:extLst xmlns:a="http://schemas.openxmlformats.org/drawingml/2006/main">
              <a:ext uri="{FF2B5EF4-FFF2-40B4-BE49-F238E27FC236}">
                <a16:creationId xmlns:a16="http://schemas.microsoft.com/office/drawing/2014/main" id="{7B0C2411-F740-451A-9912-43DF34F2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7086"/>
                </a:solidFill>
              </a:defRPr>
            </a:pPr>
            <a:r>
              <a:rPr sz="975" b="0">
                <a:solidFill>
                  <a:srgbClr val="577086"/>
                </a:solidFill>
              </a:rPr>
              <a:t>华为云 ModelArts · MindSpore 1.7.0 · Tesla T4</a:t>
            </a:r>
          </a:p>
        </p:txBody>
      </p:sp>
    </p:spTree>
    <p:extLst>
      <p:ext uri="{BB962C8B-B14F-4D97-AF65-F5344CB8AC3E}">
        <p14:creationId xmlns:p14="http://schemas.microsoft.com/office/powerpoint/2010/main" val="1210204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ED037281-BD0B-4408-BCF6-FDD0DDF6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C6B7"/>
                </a:solidFill>
              </a:defRPr>
            </a:pPr>
            <a:r>
              <a:rPr sz="1050" b="1">
                <a:solidFill>
                  <a:srgbClr val="20C6B7"/>
                </a:solidFill>
              </a:rPr>
              <a:t>01 · TASK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CFF0EAE-E589-4901-B865-8F5BAFAD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为什么需要机器学习气候仿真器？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992AC26B-52A8-423E-9A1D-8DC2918D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7086"/>
                </a:solidFill>
              </a:defRPr>
            </a:pPr>
            <a:r>
              <a:rPr sz="1050" b="1">
                <a:solidFill>
                  <a:srgbClr val="577086"/>
                </a:solidFill>
              </a:rPr>
              <a:t>02</a:t>
            </a:r>
          </a:p>
        </p:txBody>
      </p:sp>
      <p:sp>
        <p:nvSpPr>
          <p:cNvPr id="4" name="accent-2">
            <a:extLst xmlns:a="http://schemas.openxmlformats.org/drawingml/2006/main">
              <a:ext uri="{FF2B5EF4-FFF2-40B4-BE49-F238E27FC236}">
                <a16:creationId xmlns:a16="http://schemas.microsoft.com/office/drawing/2014/main" id="{B62D335A-EF40-4FC8-A854-8124B7D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ask-lead">
            <a:extLst xmlns:a="http://schemas.openxmlformats.org/drawingml/2006/main">
              <a:ext uri="{FF2B5EF4-FFF2-40B4-BE49-F238E27FC236}">
                <a16:creationId xmlns:a16="http://schemas.microsoft.com/office/drawing/2014/main" id="{FFBB5A05-DCB7-49F3-9D40-7A399F52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8FC"/>
                </a:solidFill>
              </a:defRPr>
            </a:pPr>
            <a:r>
              <a:rPr sz="1800" b="1">
                <a:solidFill>
                  <a:srgbClr val="F4F8FC"/>
                </a:solidFill>
              </a:rPr>
              <a:t>完整地球系统模式可靠，但一次百年模拟成本高、情景覆盖有限。</a:t>
            </a:r>
          </a:p>
        </p:txBody>
      </p:sp>
      <p:sp>
        <p:nvSpPr>
          <p:cNvPr id="6" name="task-body">
            <a:extLst xmlns:a="http://schemas.openxmlformats.org/drawingml/2006/main">
              <a:ext uri="{FF2B5EF4-FFF2-40B4-BE49-F238E27FC236}">
                <a16:creationId xmlns:a16="http://schemas.microsoft.com/office/drawing/2014/main" id="{8F7B0906-D84A-4C1B-9045-82F775C3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47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BBCB"/>
                </a:solidFill>
              </a:defRPr>
            </a:pPr>
            <a:r>
              <a:rPr sz="1425" b="0">
                <a:solidFill>
                  <a:srgbClr val="A7BBCB"/>
                </a:solidFill>
              </a:rPr>
              <a:t>目标是在给定 CO₂、CH₄、SO₂ 与黑碳排放路径后，以远低于 ESM 的成本预测全球与区域气候响应。</a:t>
            </a:r>
          </a:p>
        </p:txBody>
      </p:sp>
      <p:sp>
        <p:nvSpPr>
          <p:cNvPr id="7" name="challenge-time-value">
            <a:extLst xmlns:a="http://schemas.openxmlformats.org/drawingml/2006/main">
              <a:ext uri="{FF2B5EF4-FFF2-40B4-BE49-F238E27FC236}">
                <a16:creationId xmlns:a16="http://schemas.microsoft.com/office/drawing/2014/main" id="{9CA4550A-5038-43CD-B0D3-AB14F001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C6B7"/>
                </a:solidFill>
              </a:defRPr>
            </a:pPr>
            <a:r>
              <a:rPr sz="3000" b="1">
                <a:solidFill>
                  <a:srgbClr val="20C6B7"/>
                </a:solidFill>
              </a:rPr>
              <a:t>10 年</a:t>
            </a:r>
          </a:p>
        </p:txBody>
      </p:sp>
      <p:sp>
        <p:nvSpPr>
          <p:cNvPr id="8" name="challenge-time-label">
            <a:extLst xmlns:a="http://schemas.openxmlformats.org/drawingml/2006/main">
              <a:ext uri="{FF2B5EF4-FFF2-40B4-BE49-F238E27FC236}">
                <a16:creationId xmlns:a16="http://schemas.microsoft.com/office/drawing/2014/main" id="{B3F8DDAF-88A0-49C8-B711-7BF6F35F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BCB"/>
                </a:solidFill>
              </a:defRPr>
            </a:pPr>
            <a:r>
              <a:rPr sz="1200" b="0">
                <a:solidFill>
                  <a:srgbClr val="A7BBCB"/>
                </a:solidFill>
              </a:rPr>
              <a:t>滑动窗口建模</a:t>
            </a:r>
          </a:p>
          <a:p xmlns:a="http://schemas.openxmlformats.org/drawingml/2006/main">
            <a:pPr algn="l">
              <a:defRPr sz="1200" b="0">
                <a:solidFill>
                  <a:srgbClr val="A7BBCB"/>
                </a:solidFill>
              </a:defRPr>
            </a:pPr>
            <a:r>
              <a:rPr sz="1200" b="0">
                <a:solidFill>
                  <a:srgbClr val="A7BBCB"/>
                </a:solidFill>
              </a:rPr>
              <a:t>气候滞后响应</a:t>
            </a:r>
          </a:p>
        </p:txBody>
      </p:sp>
      <p:sp>
        <p:nvSpPr>
          <p:cNvPr id="9" name="challenge-grid-value">
            <a:extLst xmlns:a="http://schemas.openxmlformats.org/drawingml/2006/main">
              <a:ext uri="{FF2B5EF4-FFF2-40B4-BE49-F238E27FC236}">
                <a16:creationId xmlns:a16="http://schemas.microsoft.com/office/drawing/2014/main" id="{9D46AC85-F165-4312-AED0-69E50282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432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9A5FF"/>
                </a:solidFill>
              </a:defRPr>
            </a:pPr>
            <a:r>
              <a:rPr sz="3000" b="1">
                <a:solidFill>
                  <a:srgbClr val="59A5FF"/>
                </a:solidFill>
              </a:rPr>
              <a:t>96×144</a:t>
            </a:r>
          </a:p>
        </p:txBody>
      </p:sp>
      <p:sp>
        <p:nvSpPr>
          <p:cNvPr id="10" name="challenge-grid-label">
            <a:extLst xmlns:a="http://schemas.openxmlformats.org/drawingml/2006/main">
              <a:ext uri="{FF2B5EF4-FFF2-40B4-BE49-F238E27FC236}">
                <a16:creationId xmlns:a16="http://schemas.microsoft.com/office/drawing/2014/main" id="{5405B29B-703D-411B-92FF-BF2B124C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957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BCB"/>
                </a:solidFill>
              </a:defRPr>
            </a:pPr>
            <a:r>
              <a:rPr sz="1200" b="0">
                <a:solidFill>
                  <a:srgbClr val="A7BBCB"/>
                </a:solidFill>
              </a:rPr>
              <a:t>输出全球格点场</a:t>
            </a:r>
          </a:p>
          <a:p xmlns:a="http://schemas.openxmlformats.org/drawingml/2006/main">
            <a:pPr algn="l">
              <a:defRPr sz="1200" b="0">
                <a:solidFill>
                  <a:srgbClr val="A7BBCB"/>
                </a:solidFill>
              </a:defRPr>
            </a:pPr>
            <a:r>
              <a:rPr sz="1200" b="0">
                <a:solidFill>
                  <a:srgbClr val="A7BBCB"/>
                </a:solidFill>
              </a:rPr>
              <a:t>而非单点序列</a:t>
            </a:r>
          </a:p>
        </p:txBody>
      </p:sp>
      <p:sp>
        <p:nvSpPr>
          <p:cNvPr id="11" name="challenge-data-value">
            <a:extLst xmlns:a="http://schemas.openxmlformats.org/drawingml/2006/main">
              <a:ext uri="{FF2B5EF4-FFF2-40B4-BE49-F238E27FC236}">
                <a16:creationId xmlns:a16="http://schemas.microsoft.com/office/drawing/2014/main" id="{6F50CF75-2FE1-4910-8F3C-E1909562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432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CA72"/>
                </a:solidFill>
              </a:defRPr>
            </a:pPr>
            <a:r>
              <a:rPr sz="3000" b="1">
                <a:solidFill>
                  <a:srgbClr val="FFCA72"/>
                </a:solidFill>
              </a:rPr>
              <a:t>726</a:t>
            </a:r>
          </a:p>
        </p:txBody>
      </p:sp>
      <p:sp>
        <p:nvSpPr>
          <p:cNvPr id="12" name="challenge-data-label">
            <a:extLst xmlns:a="http://schemas.openxmlformats.org/drawingml/2006/main">
              <a:ext uri="{FF2B5EF4-FFF2-40B4-BE49-F238E27FC236}">
                <a16:creationId xmlns:a16="http://schemas.microsoft.com/office/drawing/2014/main" id="{6D1585EA-C6B8-4A2D-AFF4-0F0F1832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957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BCB"/>
                </a:solidFill>
              </a:defRPr>
            </a:pPr>
            <a:r>
              <a:rPr sz="1200" b="0">
                <a:solidFill>
                  <a:srgbClr val="A7BBCB"/>
                </a:solidFill>
              </a:rPr>
              <a:t>训练样本有限且</a:t>
            </a:r>
          </a:p>
          <a:p xmlns:a="http://schemas.openxmlformats.org/drawingml/2006/main">
            <a:pPr algn="l">
              <a:defRPr sz="1200" b="0">
                <a:solidFill>
                  <a:srgbClr val="A7BBCB"/>
                </a:solidFill>
              </a:defRPr>
            </a:pPr>
            <a:r>
              <a:rPr sz="1200" b="0">
                <a:solidFill>
                  <a:srgbClr val="A7BBCB"/>
                </a:solidFill>
              </a:rPr>
              <a:t>相邻年份高度相关</a:t>
            </a:r>
          </a:p>
        </p:txBody>
      </p:sp>
      <p:sp>
        <p:nvSpPr>
          <p:cNvPr id="13" name="challenge-panel">
            <a:extLst xmlns:a="http://schemas.openxmlformats.org/drawingml/2006/main">
              <a:ext uri="{FF2B5EF4-FFF2-40B4-BE49-F238E27FC236}">
                <a16:creationId xmlns:a16="http://schemas.microsoft.com/office/drawing/2014/main" id="{5966392C-0364-4F59-95FB-C80FBDA4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2933700" cy="43053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D2032"/>
          </a:solidFill>
          <a:ln xmlns:a="http://schemas.openxmlformats.org/drawingml/2006/main" w="9525">
            <a:solidFill>
              <a:srgbClr val="1C3C54"/>
            </a:solidFill>
            <a:prstDash val="solid"/>
          </a:ln>
        </p:spPr>
      </p:sp>
      <p:sp>
        <p:nvSpPr>
          <p:cNvPr id="14" name="challenge-title">
            <a:extLst xmlns:a="http://schemas.openxmlformats.org/drawingml/2006/main">
              <a:ext uri="{FF2B5EF4-FFF2-40B4-BE49-F238E27FC236}">
                <a16:creationId xmlns:a16="http://schemas.microsoft.com/office/drawing/2014/main" id="{5A0BE5F8-FFC4-4819-9D9A-4F632A40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478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8FC"/>
                </a:solidFill>
              </a:defRPr>
            </a:pPr>
            <a:r>
              <a:rPr sz="1800" b="1">
                <a:solidFill>
                  <a:srgbClr val="F4F8FC"/>
                </a:solidFill>
              </a:rPr>
              <a:t>核心难点</a:t>
            </a:r>
          </a:p>
        </p:txBody>
      </p:sp>
      <p:sp>
        <p:nvSpPr>
          <p:cNvPr id="15" name="challenge-list">
            <a:extLst xmlns:a="http://schemas.openxmlformats.org/drawingml/2006/main">
              <a:ext uri="{FF2B5EF4-FFF2-40B4-BE49-F238E27FC236}">
                <a16:creationId xmlns:a16="http://schemas.microsoft.com/office/drawing/2014/main" id="{DDBADE52-5544-42E0-AAAD-C1026F37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23241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BCB"/>
                </a:solidFill>
              </a:defRPr>
            </a:pPr>
            <a:r>
              <a:rPr sz="1350" b="0">
                <a:solidFill>
                  <a:srgbClr val="A7BBCB"/>
                </a:solidFill>
              </a:rPr>
              <a:t>01  时间尺度不同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A7BBCB"/>
                </a:solidFill>
              </a:defRPr>
            </a:pPr>
            <a:r>
              <a:rPr sz="1350" b="0">
                <a:solidFill>
                  <a:srgbClr val="A7BBCB"/>
                </a:solidFill>
              </a:rPr>
              <a:t>02  降水非线性强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A7BBCB"/>
                </a:solidFill>
              </a:defRPr>
            </a:pPr>
            <a:r>
              <a:rPr sz="1350" b="0">
                <a:solidFill>
                  <a:srgbClr val="A7BBCB"/>
                </a:solidFill>
              </a:rPr>
              <a:t>03  内部变率带来噪声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A7BBCB"/>
                </a:solidFill>
              </a:defRPr>
            </a:pPr>
            <a:r>
              <a:rPr sz="1350" b="0">
                <a:solidFill>
                  <a:srgbClr val="A7BBCB"/>
                </a:solidFill>
              </a:rPr>
              <a:t>04  全球趋势与区域结构并重</a:t>
            </a:r>
          </a:p>
        </p:txBody>
      </p:sp>
      <p:sp>
        <p:nvSpPr>
          <p:cNvPr id="16" name="challenge-key">
            <a:extLst xmlns:a="http://schemas.openxmlformats.org/drawingml/2006/main">
              <a:ext uri="{FF2B5EF4-FFF2-40B4-BE49-F238E27FC236}">
                <a16:creationId xmlns:a16="http://schemas.microsoft.com/office/drawing/2014/main" id="{E486468A-03EF-41B3-BF48-4C1DB859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101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C6B7"/>
                </a:solidFill>
              </a:defRPr>
            </a:pPr>
            <a:r>
              <a:rPr sz="1200" b="1">
                <a:solidFill>
                  <a:srgbClr val="20C6B7"/>
                </a:solidFill>
              </a:rPr>
              <a:t>不是普通回归，而是时空依赖与物理统计约束共同作用。</a:t>
            </a:r>
          </a:p>
        </p:txBody>
      </p:sp>
      <p:sp>
        <p:nvSpPr>
          <p:cNvPr id="17" name="footer-2">
            <a:extLst xmlns:a="http://schemas.openxmlformats.org/drawingml/2006/main">
              <a:ext uri="{FF2B5EF4-FFF2-40B4-BE49-F238E27FC236}">
                <a16:creationId xmlns:a16="http://schemas.microsoft.com/office/drawing/2014/main" id="{5B915638-D4DF-40FB-ADDE-3040C11A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77086"/>
                </a:solidFill>
              </a:defRPr>
            </a:pPr>
            <a:r>
              <a:rPr sz="825" b="0">
                <a:solidFill>
                  <a:srgbClr val="577086"/>
                </a:solidFill>
              </a:rPr>
              <a:t>ClimateBench × MindSpore · 课程作业展示</a:t>
            </a:r>
          </a:p>
        </p:txBody>
      </p:sp>
    </p:spTree>
    <p:extLst>
      <p:ext uri="{BB962C8B-B14F-4D97-AF65-F5344CB8AC3E}">
        <p14:creationId xmlns:p14="http://schemas.microsoft.com/office/powerpoint/2010/main" val="1174316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BD5B93B3-8BF4-48E8-853E-79EB1FED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C6B7"/>
                </a:solidFill>
              </a:defRPr>
            </a:pPr>
            <a:r>
              <a:rPr sz="1050" b="1">
                <a:solidFill>
                  <a:srgbClr val="20C6B7"/>
                </a:solidFill>
              </a:rPr>
              <a:t>02 · DATA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0613221-10B5-4835-B1AB-4DA9C390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数据协议决定复现是否可信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9F1986DD-9683-4AA6-86BC-2FE9A498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7086"/>
                </a:solidFill>
              </a:defRPr>
            </a:pPr>
            <a:r>
              <a:rPr sz="1050" b="1">
                <a:solidFill>
                  <a:srgbClr val="577086"/>
                </a:solidFill>
              </a:rPr>
              <a:t>03</a:t>
            </a:r>
          </a:p>
        </p:txBody>
      </p:sp>
      <p:sp>
        <p:nvSpPr>
          <p:cNvPr id="4" name="accent-3">
            <a:extLst xmlns:a="http://schemas.openxmlformats.org/drawingml/2006/main">
              <a:ext uri="{FF2B5EF4-FFF2-40B4-BE49-F238E27FC236}">
                <a16:creationId xmlns:a16="http://schemas.microsoft.com/office/drawing/2014/main" id="{A4FD3F4C-14E4-48D8-BF7B-343D8F6A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ata-node-0">
            <a:extLst xmlns:a="http://schemas.openxmlformats.org/drawingml/2006/main">
              <a:ext uri="{FF2B5EF4-FFF2-40B4-BE49-F238E27FC236}">
                <a16:creationId xmlns:a16="http://schemas.microsoft.com/office/drawing/2014/main" id="{44E1474A-A0E1-4239-9A2E-F761EE2C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93D"/>
          </a:solidFill>
          <a:ln xmlns:a="http://schemas.openxmlformats.org/drawingml/2006/main" w="9525">
            <a:solidFill>
              <a:srgbClr val="59A5FF"/>
            </a:solidFill>
            <a:prstDash val="solid"/>
          </a:ln>
        </p:spPr>
      </p:sp>
      <p:sp>
        <p:nvSpPr>
          <p:cNvPr id="6" name="data-node-1">
            <a:extLst xmlns:a="http://schemas.openxmlformats.org/drawingml/2006/main">
              <a:ext uri="{FF2B5EF4-FFF2-40B4-BE49-F238E27FC236}">
                <a16:creationId xmlns:a16="http://schemas.microsoft.com/office/drawing/2014/main" id="{92486FDE-EB6B-497F-A2CF-79F0A175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52625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93D"/>
          </a:solidFill>
          <a:ln xmlns:a="http://schemas.openxmlformats.org/drawingml/2006/main" w="9525">
            <a:solidFill>
              <a:srgbClr val="20C6B7"/>
            </a:solidFill>
            <a:prstDash val="solid"/>
          </a:ln>
        </p:spPr>
      </p:sp>
      <p:sp>
        <p:nvSpPr>
          <p:cNvPr id="7" name="data-node-2">
            <a:extLst xmlns:a="http://schemas.openxmlformats.org/drawingml/2006/main">
              <a:ext uri="{FF2B5EF4-FFF2-40B4-BE49-F238E27FC236}">
                <a16:creationId xmlns:a16="http://schemas.microsoft.com/office/drawing/2014/main" id="{DF1FA467-F6B1-4ED9-9BC8-07457A26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52625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93D"/>
          </a:solidFill>
          <a:ln xmlns:a="http://schemas.openxmlformats.org/drawingml/2006/main" w="9525">
            <a:solidFill>
              <a:srgbClr val="FFCA72"/>
            </a:solidFill>
            <a:prstDash val="solid"/>
          </a:ln>
        </p:spPr>
      </p:sp>
      <p:sp>
        <p:nvSpPr>
          <p:cNvPr id="8" name="data-node-3">
            <a:extLst xmlns:a="http://schemas.openxmlformats.org/drawingml/2006/main">
              <a:ext uri="{FF2B5EF4-FFF2-40B4-BE49-F238E27FC236}">
                <a16:creationId xmlns:a16="http://schemas.microsoft.com/office/drawing/2014/main" id="{BAD5B5C5-1FC0-42FD-9087-7C6B9DD7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52625"/>
            <a:ext cx="33909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93D"/>
          </a:solidFill>
          <a:ln xmlns:a="http://schemas.openxmlformats.org/drawingml/2006/main" w="9525">
            <a:solidFill>
              <a:srgbClr val="FF7B78"/>
            </a:solidFill>
            <a:prstDash val="solid"/>
          </a:ln>
        </p:spPr>
      </p: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81300" y="2667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086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257800" y="2667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086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734300" y="2667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086"/>
            </a:solidFill>
            <a:prstDash val="solid"/>
            <a:tailEnd type="arrow" w="med" len="med"/>
          </a:ln>
        </p:spPr>
      </p:cxnSp>
      <p:sp>
        <p:nvSpPr>
          <p:cNvPr id="12" name="data-node-title-0">
            <a:extLst xmlns:a="http://schemas.openxmlformats.org/drawingml/2006/main">
              <a:ext uri="{FF2B5EF4-FFF2-40B4-BE49-F238E27FC236}">
                <a16:creationId xmlns:a16="http://schemas.microsoft.com/office/drawing/2014/main" id="{E7F54550-F7ED-47C1-A744-26AB2D55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9A5FF"/>
                </a:solidFill>
              </a:defRPr>
            </a:pPr>
            <a:r>
              <a:rPr sz="1575" b="1">
                <a:solidFill>
                  <a:srgbClr val="59A5FF"/>
                </a:solidFill>
              </a:rPr>
              <a:t>外部强迫</a:t>
            </a:r>
          </a:p>
        </p:txBody>
      </p:sp>
      <p:sp>
        <p:nvSpPr>
          <p:cNvPr id="13" name="data-node-body-0">
            <a:extLst xmlns:a="http://schemas.openxmlformats.org/drawingml/2006/main">
              <a:ext uri="{FF2B5EF4-FFF2-40B4-BE49-F238E27FC236}">
                <a16:creationId xmlns:a16="http://schemas.microsoft.com/office/drawing/2014/main" id="{5A079FDE-C570-4E90-932D-C76982C5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4F8FC"/>
                </a:solidFill>
              </a:defRPr>
            </a:pPr>
            <a:r>
              <a:rPr sz="1275" b="0">
                <a:solidFill>
                  <a:srgbClr val="F4F8FC"/>
                </a:solidFill>
              </a:rPr>
              <a:t>CO₂ / CH₄</a:t>
            </a:r>
          </a:p>
          <a:p xmlns:a="http://schemas.openxmlformats.org/drawingml/2006/main">
            <a:pPr algn="ctr">
              <a:defRPr sz="1275" b="0">
                <a:solidFill>
                  <a:srgbClr val="F4F8FC"/>
                </a:solidFill>
              </a:defRPr>
            </a:pPr>
            <a:r>
              <a:rPr sz="1275" b="0">
                <a:solidFill>
                  <a:srgbClr val="F4F8FC"/>
                </a:solidFill>
              </a:rPr>
              <a:t>SO₂ / BC</a:t>
            </a:r>
          </a:p>
        </p:txBody>
      </p:sp>
      <p:sp>
        <p:nvSpPr>
          <p:cNvPr id="14" name="data-node-title-1">
            <a:extLst xmlns:a="http://schemas.openxmlformats.org/drawingml/2006/main">
              <a:ext uri="{FF2B5EF4-FFF2-40B4-BE49-F238E27FC236}">
                <a16:creationId xmlns:a16="http://schemas.microsoft.com/office/drawing/2014/main" id="{3D43AFB7-D94B-4046-965A-2487C57C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C6B7"/>
                </a:solidFill>
              </a:defRPr>
            </a:pPr>
            <a:r>
              <a:rPr sz="1575" b="1">
                <a:solidFill>
                  <a:srgbClr val="20C6B7"/>
                </a:solidFill>
              </a:rPr>
              <a:t>10 年窗口</a:t>
            </a:r>
          </a:p>
        </p:txBody>
      </p:sp>
      <p:sp>
        <p:nvSpPr>
          <p:cNvPr id="15" name="data-node-body-1">
            <a:extLst xmlns:a="http://schemas.openxmlformats.org/drawingml/2006/main">
              <a:ext uri="{FF2B5EF4-FFF2-40B4-BE49-F238E27FC236}">
                <a16:creationId xmlns:a16="http://schemas.microsoft.com/office/drawing/2014/main" id="{5199F35F-6946-495D-8587-4558864C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4F8FC"/>
                </a:solidFill>
              </a:defRPr>
            </a:pPr>
            <a:r>
              <a:rPr sz="1275" b="0">
                <a:solidFill>
                  <a:srgbClr val="F4F8FC"/>
                </a:solidFill>
              </a:rPr>
              <a:t>[N,10,96,144,4]</a:t>
            </a:r>
          </a:p>
        </p:txBody>
      </p:sp>
      <p:sp>
        <p:nvSpPr>
          <p:cNvPr id="16" name="data-node-title-2">
            <a:extLst xmlns:a="http://schemas.openxmlformats.org/drawingml/2006/main">
              <a:ext uri="{FF2B5EF4-FFF2-40B4-BE49-F238E27FC236}">
                <a16:creationId xmlns:a16="http://schemas.microsoft.com/office/drawing/2014/main" id="{15A9DBC1-B040-470C-A3F5-4B097334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71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A72"/>
                </a:solidFill>
              </a:defRPr>
            </a:pPr>
            <a:r>
              <a:rPr sz="1575" b="1">
                <a:solidFill>
                  <a:srgbClr val="FFCA72"/>
                </a:solidFill>
              </a:rPr>
              <a:t>CNN-LSTM</a:t>
            </a:r>
          </a:p>
        </p:txBody>
      </p:sp>
      <p:sp>
        <p:nvSpPr>
          <p:cNvPr id="17" name="data-node-body-2">
            <a:extLst xmlns:a="http://schemas.openxmlformats.org/drawingml/2006/main">
              <a:ext uri="{FF2B5EF4-FFF2-40B4-BE49-F238E27FC236}">
                <a16:creationId xmlns:a16="http://schemas.microsoft.com/office/drawing/2014/main" id="{92442404-D71A-49AC-9279-392CA3AA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4F8FC"/>
                </a:solidFill>
              </a:defRPr>
            </a:pPr>
            <a:r>
              <a:rPr sz="1275" b="0">
                <a:solidFill>
                  <a:srgbClr val="F4F8FC"/>
                </a:solidFill>
              </a:rPr>
              <a:t>共享空间特征</a:t>
            </a:r>
          </a:p>
          <a:p xmlns:a="http://schemas.openxmlformats.org/drawingml/2006/main">
            <a:pPr algn="ctr">
              <a:defRPr sz="1275" b="0">
                <a:solidFill>
                  <a:srgbClr val="F4F8FC"/>
                </a:solidFill>
              </a:defRPr>
            </a:pPr>
            <a:r>
              <a:rPr sz="1275" b="0">
                <a:solidFill>
                  <a:srgbClr val="F4F8FC"/>
                </a:solidFill>
              </a:rPr>
              <a:t>汇总时间依赖</a:t>
            </a:r>
          </a:p>
        </p:txBody>
      </p:sp>
      <p:sp>
        <p:nvSpPr>
          <p:cNvPr id="18" name="data-node-title-3">
            <a:extLst xmlns:a="http://schemas.openxmlformats.org/drawingml/2006/main">
              <a:ext uri="{FF2B5EF4-FFF2-40B4-BE49-F238E27FC236}">
                <a16:creationId xmlns:a16="http://schemas.microsoft.com/office/drawing/2014/main" id="{346D2586-1127-4609-8EC7-219B231D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7B78"/>
                </a:solidFill>
              </a:defRPr>
            </a:pPr>
            <a:r>
              <a:rPr sz="1575" b="1">
                <a:solidFill>
                  <a:srgbClr val="FF7B78"/>
                </a:solidFill>
              </a:rPr>
              <a:t>四类异常场</a:t>
            </a:r>
          </a:p>
        </p:txBody>
      </p:sp>
      <p:sp>
        <p:nvSpPr>
          <p:cNvPr id="19" name="data-node-body-3">
            <a:extLst xmlns:a="http://schemas.openxmlformats.org/drawingml/2006/main">
              <a:ext uri="{FF2B5EF4-FFF2-40B4-BE49-F238E27FC236}">
                <a16:creationId xmlns:a16="http://schemas.microsoft.com/office/drawing/2014/main" id="{B498A882-5FD9-4FD1-A857-69357A05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4F8FC"/>
                </a:solidFill>
              </a:defRPr>
            </a:pPr>
            <a:r>
              <a:rPr sz="1275" b="0">
                <a:solidFill>
                  <a:srgbClr val="F4F8FC"/>
                </a:solidFill>
              </a:rPr>
              <a:t>tas · pr · DTR · pr90</a:t>
            </a:r>
          </a:p>
          <a:p xmlns:a="http://schemas.openxmlformats.org/drawingml/2006/main">
            <a:pPr algn="ctr">
              <a:defRPr sz="1275" b="0">
                <a:solidFill>
                  <a:srgbClr val="F4F8FC"/>
                </a:solidFill>
              </a:defRPr>
            </a:pPr>
            <a:r>
              <a:rPr sz="1275" b="0">
                <a:solidFill>
                  <a:srgbClr val="F4F8FC"/>
                </a:solidFill>
              </a:rPr>
              <a:t>[N,1,96,144]</a:t>
            </a:r>
          </a:p>
        </p:txBody>
      </p:sp>
      <p:sp>
        <p:nvSpPr>
          <p:cNvPr id="20" name="split-title">
            <a:extLst xmlns:a="http://schemas.openxmlformats.org/drawingml/2006/main">
              <a:ext uri="{FF2B5EF4-FFF2-40B4-BE49-F238E27FC236}">
                <a16:creationId xmlns:a16="http://schemas.microsoft.com/office/drawing/2014/main" id="{9DDA71C9-A498-4366-AEC7-2440FE73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情景划分</a:t>
            </a:r>
          </a:p>
        </p:txBody>
      </p:sp>
      <p:sp>
        <p:nvSpPr>
          <p:cNvPr id="21" name="split-train">
            <a:extLst xmlns:a="http://schemas.openxmlformats.org/drawingml/2006/main">
              <a:ext uri="{FF2B5EF4-FFF2-40B4-BE49-F238E27FC236}">
                <a16:creationId xmlns:a16="http://schemas.microsoft.com/office/drawing/2014/main" id="{FECD17E7-F000-41A1-83C8-5D240A8C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BCB"/>
                </a:solidFill>
              </a:defRPr>
            </a:pPr>
            <a:r>
              <a:rPr sz="1350" b="0">
                <a:solidFill>
                  <a:srgbClr val="A7BBCB"/>
                </a:solidFill>
              </a:rPr>
              <a:t>训练：historical · SSP126 · SSP370 · SSP585 · hist-GHG · hist-aer</a:t>
            </a:r>
          </a:p>
        </p:txBody>
      </p:sp>
      <p:sp>
        <p:nvSpPr>
          <p:cNvPr id="22" name="split-test">
            <a:extLst xmlns:a="http://schemas.openxmlformats.org/drawingml/2006/main">
              <a:ext uri="{FF2B5EF4-FFF2-40B4-BE49-F238E27FC236}">
                <a16:creationId xmlns:a16="http://schemas.microsoft.com/office/drawing/2014/main" id="{5C85769A-94D7-41F6-A7C6-3A0A3333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C6B7"/>
                </a:solidFill>
              </a:defRPr>
            </a:pPr>
            <a:r>
              <a:rPr sz="1350" b="1">
                <a:solidFill>
                  <a:srgbClr val="20C6B7"/>
                </a:solidFill>
              </a:rPr>
              <a:t>测试：SSP245 完全留出，检验对未见排放路径的插值能力</a:t>
            </a:r>
          </a:p>
        </p:txBody>
      </p:sp>
      <p:sp>
        <p:nvSpPr>
          <p:cNvPr id="23" name="split-detail">
            <a:extLst xmlns:a="http://schemas.openxmlformats.org/drawingml/2006/main">
              <a:ext uri="{FF2B5EF4-FFF2-40B4-BE49-F238E27FC236}">
                <a16:creationId xmlns:a16="http://schemas.microsoft.com/office/drawing/2014/main" id="{8845C584-C55C-4A7B-8502-0BAB09CC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BCB"/>
                </a:solidFill>
              </a:defRPr>
            </a:pPr>
            <a:r>
              <a:rPr sz="1275" b="0">
                <a:solidFill>
                  <a:srgbClr val="A7BBCB"/>
                </a:solidFill>
              </a:rPr>
              <a:t>关键处理：member 平均 · pr/pr90 × 86400 · 经纬度统一 · float32 · 训练统计量复用</a:t>
            </a:r>
          </a:p>
        </p:txBody>
      </p:sp>
      <p:sp>
        <p:nvSpPr>
          <p:cNvPr id="24" name="footer-3">
            <a:extLst xmlns:a="http://schemas.openxmlformats.org/drawingml/2006/main">
              <a:ext uri="{FF2B5EF4-FFF2-40B4-BE49-F238E27FC236}">
                <a16:creationId xmlns:a16="http://schemas.microsoft.com/office/drawing/2014/main" id="{FAB7CBF1-6B61-46B3-89A0-6EC3D096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77086"/>
                </a:solidFill>
              </a:defRPr>
            </a:pPr>
            <a:r>
              <a:rPr sz="825" b="0">
                <a:solidFill>
                  <a:srgbClr val="577086"/>
                </a:solidFill>
              </a:rPr>
              <a:t>ClimateBench × MindSpore · 课程作业展示</a:t>
            </a:r>
          </a:p>
        </p:txBody>
      </p:sp>
    </p:spTree>
    <p:extLst>
      <p:ext uri="{BB962C8B-B14F-4D97-AF65-F5344CB8AC3E}">
        <p14:creationId xmlns:p14="http://schemas.microsoft.com/office/powerpoint/2010/main" val="1309757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32A38571-8C5D-410C-909D-C33F7F73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C6B7"/>
                </a:solidFill>
              </a:defRPr>
            </a:pPr>
            <a:r>
              <a:rPr sz="1050" b="1">
                <a:solidFill>
                  <a:srgbClr val="20C6B7"/>
                </a:solidFill>
              </a:rPr>
              <a:t>03 · MODEL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E6C3B0FF-4D65-4E75-92ED-20421201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CNN-LSTM：逐年提取空间特征，再汇总十年记忆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44D9E339-7303-473F-BA89-6E406B1E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7086"/>
                </a:solidFill>
              </a:defRPr>
            </a:pPr>
            <a:r>
              <a:rPr sz="1050" b="1">
                <a:solidFill>
                  <a:srgbClr val="577086"/>
                </a:solidFill>
              </a:rPr>
              <a:t>04</a:t>
            </a:r>
          </a:p>
        </p:txBody>
      </p:sp>
      <p:sp>
        <p:nvSpPr>
          <p:cNvPr id="4" name="accent-4">
            <a:extLst xmlns:a="http://schemas.openxmlformats.org/drawingml/2006/main">
              <a:ext uri="{FF2B5EF4-FFF2-40B4-BE49-F238E27FC236}">
                <a16:creationId xmlns:a16="http://schemas.microsoft.com/office/drawing/2014/main" id="{5A1EF1C9-8D6D-42D7-A41B-4871B068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ch-node-0">
            <a:extLst xmlns:a="http://schemas.openxmlformats.org/drawingml/2006/main">
              <a:ext uri="{FF2B5EF4-FFF2-40B4-BE49-F238E27FC236}">
                <a16:creationId xmlns:a16="http://schemas.microsoft.com/office/drawing/2014/main" id="{B7380FE9-8003-4812-9001-729A9577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2"/>
          </a:solidFill>
          <a:ln xmlns:a="http://schemas.openxmlformats.org/drawingml/2006/main" w="9525">
            <a:solidFill>
              <a:srgbClr val="59A5FF"/>
            </a:solidFill>
            <a:prstDash val="solid"/>
          </a:ln>
        </p:spPr>
      </p:sp>
      <p:sp>
        <p:nvSpPr>
          <p:cNvPr id="6" name="arch-node-1">
            <a:extLst xmlns:a="http://schemas.openxmlformats.org/drawingml/2006/main">
              <a:ext uri="{FF2B5EF4-FFF2-40B4-BE49-F238E27FC236}">
                <a16:creationId xmlns:a16="http://schemas.microsoft.com/office/drawing/2014/main" id="{38122D34-C059-43FE-A22F-F46BF28B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0"/>
            <a:ext cx="1714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2"/>
          </a:solidFill>
          <a:ln xmlns:a="http://schemas.openxmlformats.org/drawingml/2006/main" w="9525">
            <a:solidFill>
              <a:srgbClr val="20C6B7"/>
            </a:solidFill>
            <a:prstDash val="solid"/>
          </a:ln>
        </p:spPr>
      </p:sp>
      <p:sp>
        <p:nvSpPr>
          <p:cNvPr id="7" name="arch-node-2">
            <a:extLst xmlns:a="http://schemas.openxmlformats.org/drawingml/2006/main">
              <a:ext uri="{FF2B5EF4-FFF2-40B4-BE49-F238E27FC236}">
                <a16:creationId xmlns:a16="http://schemas.microsoft.com/office/drawing/2014/main" id="{9BA44019-3455-40C1-A58F-2A8B966C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16002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2"/>
          </a:solidFill>
          <a:ln xmlns:a="http://schemas.openxmlformats.org/drawingml/2006/main" w="9525">
            <a:solidFill>
              <a:srgbClr val="20C6B7"/>
            </a:solidFill>
            <a:prstDash val="solid"/>
          </a:ln>
        </p:spPr>
      </p:sp>
      <p:sp>
        <p:nvSpPr>
          <p:cNvPr id="8" name="arch-node-3">
            <a:extLst xmlns:a="http://schemas.openxmlformats.org/drawingml/2006/main">
              <a:ext uri="{FF2B5EF4-FFF2-40B4-BE49-F238E27FC236}">
                <a16:creationId xmlns:a16="http://schemas.microsoft.com/office/drawing/2014/main" id="{823C01DE-B550-4488-9220-E390DE41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14500"/>
            <a:ext cx="16002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2"/>
          </a:solidFill>
          <a:ln xmlns:a="http://schemas.openxmlformats.org/drawingml/2006/main" w="9525">
            <a:solidFill>
              <a:srgbClr val="FFCA72"/>
            </a:solidFill>
            <a:prstDash val="solid"/>
          </a:ln>
        </p:spPr>
      </p:sp>
      <p:sp>
        <p:nvSpPr>
          <p:cNvPr id="9" name="arch-node-4">
            <a:extLst xmlns:a="http://schemas.openxmlformats.org/drawingml/2006/main">
              <a:ext uri="{FF2B5EF4-FFF2-40B4-BE49-F238E27FC236}">
                <a16:creationId xmlns:a16="http://schemas.microsoft.com/office/drawing/2014/main" id="{71343593-38DA-4168-B313-32A2CCE9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14500"/>
            <a:ext cx="14859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2"/>
          </a:solidFill>
          <a:ln xmlns:a="http://schemas.openxmlformats.org/drawingml/2006/main" w="9525">
            <a:solidFill>
              <a:srgbClr val="FF7B78"/>
            </a:solidFill>
            <a:prstDash val="solid"/>
          </a:ln>
        </p:spPr>
      </p:sp>
      <p:sp>
        <p:nvSpPr>
          <p:cNvPr id="10" name="arch-node-5">
            <a:extLst xmlns:a="http://schemas.openxmlformats.org/drawingml/2006/main">
              <a:ext uri="{FF2B5EF4-FFF2-40B4-BE49-F238E27FC236}">
                <a16:creationId xmlns:a16="http://schemas.microsoft.com/office/drawing/2014/main" id="{A2B0F8C5-313D-4F1A-B0F4-AADB74FE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14500"/>
            <a:ext cx="1276350" cy="13144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0D2032"/>
          </a:solidFill>
          <a:ln xmlns:a="http://schemas.openxmlformats.org/drawingml/2006/main" w="9525">
            <a:solidFill>
              <a:srgbClr val="59A5FF"/>
            </a:solidFill>
            <a:prstDash val="solid"/>
          </a:ln>
        </p:spPr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09800" y="2371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086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248150" y="2371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086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172200" y="2371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086"/>
            </a:solidFill>
            <a:prstDash val="soli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096250" y="2371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086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906000" y="2371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7086"/>
            </a:solidFill>
            <a:prstDash val="solid"/>
            <a:tailEnd type="arrow" w="sm" len="sm"/>
          </a:ln>
        </p:spPr>
      </p:cxnSp>
      <p:sp>
        <p:nvSpPr>
          <p:cNvPr id="16" name="arch-title-0">
            <a:extLst xmlns:a="http://schemas.openxmlformats.org/drawingml/2006/main">
              <a:ext uri="{FF2B5EF4-FFF2-40B4-BE49-F238E27FC236}">
                <a16:creationId xmlns:a16="http://schemas.microsoft.com/office/drawing/2014/main" id="{249E24A5-E973-4F07-9D66-B2A20370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A5FF"/>
                </a:solidFill>
              </a:defRPr>
            </a:pPr>
            <a:r>
              <a:rPr sz="1350" b="1">
                <a:solidFill>
                  <a:srgbClr val="59A5FF"/>
                </a:solidFill>
              </a:rPr>
              <a:t>输入</a:t>
            </a:r>
          </a:p>
        </p:txBody>
      </p:sp>
      <p:sp>
        <p:nvSpPr>
          <p:cNvPr id="17" name="arch-body-0">
            <a:extLst xmlns:a="http://schemas.openxmlformats.org/drawingml/2006/main">
              <a:ext uri="{FF2B5EF4-FFF2-40B4-BE49-F238E27FC236}">
                <a16:creationId xmlns:a16="http://schemas.microsoft.com/office/drawing/2014/main" id="{62C4A3C6-14FA-4EBA-B48D-B4EFAA84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F8FC"/>
                </a:solidFill>
              </a:defRPr>
            </a:pPr>
            <a:r>
              <a:rPr sz="1050" b="0">
                <a:solidFill>
                  <a:srgbClr val="F4F8FC"/>
                </a:solidFill>
              </a:rPr>
              <a:t>B×T×H×W×C</a:t>
            </a:r>
          </a:p>
        </p:txBody>
      </p:sp>
      <p:sp>
        <p:nvSpPr>
          <p:cNvPr id="18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F3A97D26-549E-4173-A3A8-7DC777FC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62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C6B7"/>
                </a:solidFill>
              </a:defRPr>
            </a:pPr>
            <a:r>
              <a:rPr sz="1350" b="1">
                <a:solidFill>
                  <a:srgbClr val="20C6B7"/>
                </a:solidFill>
              </a:rPr>
              <a:t>共享 Conv2D</a:t>
            </a:r>
          </a:p>
        </p:txBody>
      </p:sp>
      <p:sp>
        <p:nvSpPr>
          <p:cNvPr id="19" name="arch-body-1">
            <a:extLst xmlns:a="http://schemas.openxmlformats.org/drawingml/2006/main">
              <a:ext uri="{FF2B5EF4-FFF2-40B4-BE49-F238E27FC236}">
                <a16:creationId xmlns:a16="http://schemas.microsoft.com/office/drawing/2014/main" id="{7640B4BA-E0C4-45F9-837A-41ABF742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812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F8FC"/>
                </a:solidFill>
              </a:defRPr>
            </a:pPr>
            <a:r>
              <a:rPr sz="1050" b="0">
                <a:solidFill>
                  <a:srgbClr val="F4F8FC"/>
                </a:solidFill>
              </a:rPr>
              <a:t>20 · 3×3 · ReLU</a:t>
            </a:r>
          </a:p>
        </p:txBody>
      </p:sp>
      <p:sp>
        <p:nvSpPr>
          <p:cNvPr id="20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21F2441C-C06B-4A66-81AF-CD804994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621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C6B7"/>
                </a:solidFill>
              </a:defRPr>
            </a:pPr>
            <a:r>
              <a:rPr sz="1350" b="1">
                <a:solidFill>
                  <a:srgbClr val="20C6B7"/>
                </a:solidFill>
              </a:rPr>
              <a:t>Pool + GAP</a:t>
            </a:r>
          </a:p>
        </p:txBody>
      </p:sp>
      <p:sp>
        <p:nvSpPr>
          <p:cNvPr id="21" name="arch-body-2">
            <a:extLst xmlns:a="http://schemas.openxmlformats.org/drawingml/2006/main">
              <a:ext uri="{FF2B5EF4-FFF2-40B4-BE49-F238E27FC236}">
                <a16:creationId xmlns:a16="http://schemas.microsoft.com/office/drawing/2014/main" id="{48B7AB3F-0E88-455B-965A-F7B3B8AA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F8FC"/>
                </a:solidFill>
              </a:defRPr>
            </a:pPr>
            <a:r>
              <a:rPr sz="1050" b="0">
                <a:solidFill>
                  <a:srgbClr val="F4F8FC"/>
                </a:solidFill>
              </a:rPr>
              <a:t>空间压缩为 20 维</a:t>
            </a:r>
          </a:p>
        </p:txBody>
      </p:sp>
      <p:sp>
        <p:nvSpPr>
          <p:cNvPr id="22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84AC5261-B6E2-48A0-9109-FA34EDCF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CA72"/>
                </a:solidFill>
              </a:defRPr>
            </a:pPr>
            <a:r>
              <a:rPr sz="1350" b="1">
                <a:solidFill>
                  <a:srgbClr val="FFCA72"/>
                </a:solidFill>
              </a:rPr>
              <a:t>LSTM</a:t>
            </a:r>
          </a:p>
        </p:txBody>
      </p:sp>
      <p:sp>
        <p:nvSpPr>
          <p:cNvPr id="23" name="arch-body-3">
            <a:extLst xmlns:a="http://schemas.openxmlformats.org/drawingml/2006/main">
              <a:ext uri="{FF2B5EF4-FFF2-40B4-BE49-F238E27FC236}">
                <a16:creationId xmlns:a16="http://schemas.microsoft.com/office/drawing/2014/main" id="{C7E0C9C6-69B1-42EE-8462-B596E2E7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F8FC"/>
                </a:solidFill>
              </a:defRPr>
            </a:pPr>
            <a:r>
              <a:rPr sz="1050" b="0">
                <a:solidFill>
                  <a:srgbClr val="F4F8FC"/>
                </a:solidFill>
              </a:rPr>
              <a:t>hidden = 25</a:t>
            </a:r>
          </a:p>
        </p:txBody>
      </p:sp>
      <p:sp>
        <p:nvSpPr>
          <p:cNvPr id="24" name="arch-title-4">
            <a:extLst xmlns:a="http://schemas.openxmlformats.org/drawingml/2006/main">
              <a:ext uri="{FF2B5EF4-FFF2-40B4-BE49-F238E27FC236}">
                <a16:creationId xmlns:a16="http://schemas.microsoft.com/office/drawing/2014/main" id="{FAEAE4E6-4D57-4720-9BFA-DB28394D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621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7B78"/>
                </a:solidFill>
              </a:defRPr>
            </a:pPr>
            <a:r>
              <a:rPr sz="1350" b="1">
                <a:solidFill>
                  <a:srgbClr val="FF7B78"/>
                </a:solidFill>
              </a:rPr>
              <a:t>Dense</a:t>
            </a:r>
          </a:p>
        </p:txBody>
      </p:sp>
      <p:sp>
        <p:nvSpPr>
          <p:cNvPr id="25" name="arch-body-4">
            <a:extLst xmlns:a="http://schemas.openxmlformats.org/drawingml/2006/main">
              <a:ext uri="{FF2B5EF4-FFF2-40B4-BE49-F238E27FC236}">
                <a16:creationId xmlns:a16="http://schemas.microsoft.com/office/drawing/2014/main" id="{34C22C91-54E6-459F-86EE-24871E6B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F8FC"/>
                </a:solidFill>
              </a:defRPr>
            </a:pPr>
            <a:r>
              <a:rPr sz="1050" b="0">
                <a:solidFill>
                  <a:srgbClr val="F4F8FC"/>
                </a:solidFill>
              </a:rPr>
              <a:t>25 → 13824</a:t>
            </a:r>
          </a:p>
        </p:txBody>
      </p:sp>
      <p:sp>
        <p:nvSpPr>
          <p:cNvPr id="26" name="arch-title-5">
            <a:extLst xmlns:a="http://schemas.openxmlformats.org/drawingml/2006/main">
              <a:ext uri="{FF2B5EF4-FFF2-40B4-BE49-F238E27FC236}">
                <a16:creationId xmlns:a16="http://schemas.microsoft.com/office/drawing/2014/main" id="{B7DD2F9A-8287-49E5-857F-49BCB9F5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9621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A5FF"/>
                </a:solidFill>
              </a:defRPr>
            </a:pPr>
            <a:r>
              <a:rPr sz="1350" b="1">
                <a:solidFill>
                  <a:srgbClr val="59A5FF"/>
                </a:solidFill>
              </a:rPr>
              <a:t>输出</a:t>
            </a:r>
          </a:p>
        </p:txBody>
      </p:sp>
      <p:sp>
        <p:nvSpPr>
          <p:cNvPr id="27" name="arch-body-5">
            <a:extLst xmlns:a="http://schemas.openxmlformats.org/drawingml/2006/main">
              <a:ext uri="{FF2B5EF4-FFF2-40B4-BE49-F238E27FC236}">
                <a16:creationId xmlns:a16="http://schemas.microsoft.com/office/drawing/2014/main" id="{07A7CD45-1FEF-4CE2-84A3-A5865BD0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81250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F8FC"/>
                </a:solidFill>
              </a:defRPr>
            </a:pPr>
            <a:r>
              <a:rPr sz="1050" b="0">
                <a:solidFill>
                  <a:srgbClr val="F4F8FC"/>
                </a:solidFill>
              </a:rPr>
              <a:t>1×96×144</a:t>
            </a:r>
          </a:p>
        </p:txBody>
      </p:sp>
      <p:sp>
        <p:nvSpPr>
          <p:cNvPr id="28" name="arch-key-title">
            <a:extLst xmlns:a="http://schemas.openxmlformats.org/drawingml/2006/main">
              <a:ext uri="{FF2B5EF4-FFF2-40B4-BE49-F238E27FC236}">
                <a16:creationId xmlns:a16="http://schemas.microsoft.com/office/drawing/2014/main" id="{279160E2-8B3B-48DE-A8F8-DC5830C6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8FC"/>
                </a:solidFill>
              </a:defRPr>
            </a:pPr>
            <a:r>
              <a:rPr sz="1800" b="1">
                <a:solidFill>
                  <a:srgbClr val="F4F8FC"/>
                </a:solidFill>
              </a:rPr>
              <a:t>MindSpore 迁移关键</a:t>
            </a:r>
          </a:p>
        </p:txBody>
      </p:sp>
      <p:sp>
        <p:nvSpPr>
          <p:cNvPr id="29" name="arch-key-body">
            <a:extLst xmlns:a="http://schemas.openxmlformats.org/drawingml/2006/main">
              <a:ext uri="{FF2B5EF4-FFF2-40B4-BE49-F238E27FC236}">
                <a16:creationId xmlns:a16="http://schemas.microsoft.com/office/drawing/2014/main" id="{2990CDA4-B2DE-4DC1-992B-88D964A7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742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BBCB"/>
                </a:solidFill>
              </a:defRPr>
            </a:pPr>
            <a:r>
              <a:rPr sz="1425" b="0">
                <a:solidFill>
                  <a:srgbClr val="A7BBCB"/>
                </a:solidFill>
              </a:rPr>
              <a:t>将 [B,T,H,W,C] 转置并合并为 [B×T,C,H,W]，用同一个 Conv2d 一次处理所有年份。</a:t>
            </a:r>
          </a:p>
          <a:p xmlns:a="http://schemas.openxmlformats.org/drawingml/2006/main">
            <a:pPr algn="l">
              <a:defRPr sz="1425" b="0">
                <a:solidFill>
                  <a:srgbClr val="A7BBCB"/>
                </a:solidFill>
              </a:defRPr>
            </a:pPr>
            <a:r>
              <a:rPr sz="1425" b="0">
                <a:solidFill>
                  <a:srgbClr val="A7BBCB"/>
                </a:solidFill>
              </a:rPr>
              <a:t>这保持了 Keras TimeDistributed 的“跨时间共享权重”语义。</a:t>
            </a:r>
          </a:p>
        </p:txBody>
      </p:sp>
      <p:sp>
        <p:nvSpPr>
          <p:cNvPr id="30" name="arch-contrast">
            <a:extLst xmlns:a="http://schemas.openxmlformats.org/drawingml/2006/main">
              <a:ext uri="{FF2B5EF4-FFF2-40B4-BE49-F238E27FC236}">
                <a16:creationId xmlns:a16="http://schemas.microsoft.com/office/drawing/2014/main" id="{DD8F10A0-050F-44F5-8BB1-E9FE1194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9337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02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rch-contrast-title">
            <a:extLst xmlns:a="http://schemas.openxmlformats.org/drawingml/2006/main">
              <a:ext uri="{FF2B5EF4-FFF2-40B4-BE49-F238E27FC236}">
                <a16:creationId xmlns:a16="http://schemas.microsoft.com/office/drawing/2014/main" id="{20892C11-BC90-4844-9256-8F902A36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CA72"/>
                </a:solidFill>
              </a:defRPr>
            </a:pPr>
            <a:r>
              <a:rPr sz="1575" b="1">
                <a:solidFill>
                  <a:srgbClr val="FFCA72"/>
                </a:solidFill>
              </a:rPr>
              <a:t>功能等价 ≠ 数值逐点一致</a:t>
            </a:r>
          </a:p>
        </p:txBody>
      </p:sp>
      <p:sp>
        <p:nvSpPr>
          <p:cNvPr id="32" name="arch-contrast-body">
            <a:extLst xmlns:a="http://schemas.openxmlformats.org/drawingml/2006/main">
              <a:ext uri="{FF2B5EF4-FFF2-40B4-BE49-F238E27FC236}">
                <a16:creationId xmlns:a16="http://schemas.microsoft.com/office/drawing/2014/main" id="{795D364B-4748-44CC-A049-5FCBAF57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863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BCB"/>
                </a:solidFill>
              </a:defRPr>
            </a:pPr>
            <a:r>
              <a:rPr sz="1200" b="0">
                <a:solidFill>
                  <a:srgbClr val="A7BBCB"/>
                </a:solidFill>
              </a:rPr>
              <a:t>RMSProp → Adam</a:t>
            </a:r>
          </a:p>
          <a:p xmlns:a="http://schemas.openxmlformats.org/drawingml/2006/main">
            <a:pPr algn="l">
              <a:defRPr sz="1200" b="0">
                <a:solidFill>
                  <a:srgbClr val="A7BBCB"/>
                </a:solidFill>
              </a:defRPr>
            </a:pPr>
            <a:r>
              <a:rPr sz="1200" b="0">
                <a:solidFill>
                  <a:srgbClr val="A7BBCB"/>
                </a:solidFill>
              </a:rPr>
              <a:t>Keras LSTM(ReLU) → 标准 LSTM 门控</a:t>
            </a:r>
          </a:p>
        </p:txBody>
      </p:sp>
      <p:sp>
        <p:nvSpPr>
          <p:cNvPr id="33" name="footer-4">
            <a:extLst xmlns:a="http://schemas.openxmlformats.org/drawingml/2006/main">
              <a:ext uri="{FF2B5EF4-FFF2-40B4-BE49-F238E27FC236}">
                <a16:creationId xmlns:a16="http://schemas.microsoft.com/office/drawing/2014/main" id="{298042B6-C7B4-42DF-9788-7ACE5679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77086"/>
                </a:solidFill>
              </a:defRPr>
            </a:pPr>
            <a:r>
              <a:rPr sz="825" b="0">
                <a:solidFill>
                  <a:srgbClr val="577086"/>
                </a:solidFill>
              </a:rPr>
              <a:t>ClimateBench × MindSpore · 课程作业展示</a:t>
            </a:r>
          </a:p>
        </p:txBody>
      </p:sp>
    </p:spTree>
    <p:extLst>
      <p:ext uri="{BB962C8B-B14F-4D97-AF65-F5344CB8AC3E}">
        <p14:creationId xmlns:p14="http://schemas.microsoft.com/office/powerpoint/2010/main" val="9779572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751E212F-ECAA-4535-A755-E43CB8A8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C6B7"/>
                </a:solidFill>
              </a:defRPr>
            </a:pPr>
            <a:r>
              <a:rPr sz="1050" b="1">
                <a:solidFill>
                  <a:srgbClr val="20C6B7"/>
                </a:solidFill>
              </a:rPr>
              <a:t>04 · ENGINEERING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140ED4A-7163-401C-AA46-DAAF1CC9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难点不在“换 API”，而在保持科学语义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CFE23073-80DD-4CE5-90E2-648E55A7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7086"/>
                </a:solidFill>
              </a:defRPr>
            </a:pPr>
            <a:r>
              <a:rPr sz="1050" b="1">
                <a:solidFill>
                  <a:srgbClr val="577086"/>
                </a:solidFill>
              </a:rPr>
              <a:t>05</a:t>
            </a:r>
          </a:p>
        </p:txBody>
      </p:sp>
      <p:sp>
        <p:nvSpPr>
          <p:cNvPr id="4" name="accent-5">
            <a:extLst xmlns:a="http://schemas.openxmlformats.org/drawingml/2006/main">
              <a:ext uri="{FF2B5EF4-FFF2-40B4-BE49-F238E27FC236}">
                <a16:creationId xmlns:a16="http://schemas.microsoft.com/office/drawing/2014/main" id="{6330C3E8-4451-4EDD-A78C-3B83A6DC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ard-num-0">
            <a:extLst xmlns:a="http://schemas.openxmlformats.org/drawingml/2006/main">
              <a:ext uri="{FF2B5EF4-FFF2-40B4-BE49-F238E27FC236}">
                <a16:creationId xmlns:a16="http://schemas.microsoft.com/office/drawing/2014/main" id="{6E55C1EC-CBA4-4EEE-BB85-EB1D7F0E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9A5FF"/>
                </a:solidFill>
              </a:defRPr>
            </a:pPr>
            <a:r>
              <a:rPr sz="2400" b="1">
                <a:solidFill>
                  <a:srgbClr val="59A5FF"/>
                </a:solidFill>
              </a:rPr>
              <a:t>01</a:t>
            </a:r>
          </a:p>
        </p:txBody>
      </p:sp>
      <p:sp>
        <p:nvSpPr>
          <p:cNvPr id="6" name="hard-title-0">
            <a:extLst xmlns:a="http://schemas.openxmlformats.org/drawingml/2006/main">
              <a:ext uri="{FF2B5EF4-FFF2-40B4-BE49-F238E27FC236}">
                <a16:creationId xmlns:a16="http://schemas.microsoft.com/office/drawing/2014/main" id="{2D555C4D-18A5-430F-BD45-222D1504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638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数据接缝</a:t>
            </a:r>
          </a:p>
        </p:txBody>
      </p:sp>
      <p:sp>
        <p:nvSpPr>
          <p:cNvPr id="7" name="hard-body-0">
            <a:extLst xmlns:a="http://schemas.openxmlformats.org/drawingml/2006/main">
              <a:ext uri="{FF2B5EF4-FFF2-40B4-BE49-F238E27FC236}">
                <a16:creationId xmlns:a16="http://schemas.microsoft.com/office/drawing/2014/main" id="{30339F51-550C-4D53-9BFA-8A6063F6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192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BCB"/>
                </a:solidFill>
              </a:defRPr>
            </a:pPr>
            <a:r>
              <a:rPr sz="1350" b="0">
                <a:solidFill>
                  <a:srgbClr val="A7BBCB"/>
                </a:solidFill>
              </a:rPr>
              <a:t>historical 与 SSP 拼接时保留前 9 年上下文，同时避免历史标签重复。</a:t>
            </a:r>
          </a:p>
        </p:txBody>
      </p:sp>
      <p:sp>
        <p:nvSpPr>
          <p:cNvPr id="8" name="hard-rule-0">
            <a:extLst xmlns:a="http://schemas.openxmlformats.org/drawingml/2006/main">
              <a:ext uri="{FF2B5EF4-FFF2-40B4-BE49-F238E27FC236}">
                <a16:creationId xmlns:a16="http://schemas.microsoft.com/office/drawing/2014/main" id="{2385445C-79AB-42E9-BDF6-58472E68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00300"/>
            <a:ext cx="963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ard-num-1">
            <a:extLst xmlns:a="http://schemas.openxmlformats.org/drawingml/2006/main">
              <a:ext uri="{FF2B5EF4-FFF2-40B4-BE49-F238E27FC236}">
                <a16:creationId xmlns:a16="http://schemas.microsoft.com/office/drawing/2014/main" id="{9CD8CC91-EB2A-4CA4-833B-C4EFB6F1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C6B7"/>
                </a:solidFill>
              </a:defRPr>
            </a:pPr>
            <a:r>
              <a:rPr sz="2400" b="1">
                <a:solidFill>
                  <a:srgbClr val="20C6B7"/>
                </a:solidFill>
              </a:rPr>
              <a:t>02</a:t>
            </a:r>
          </a:p>
        </p:txBody>
      </p:sp>
      <p:sp>
        <p:nvSpPr>
          <p:cNvPr id="10" name="hard-title-1">
            <a:extLst xmlns:a="http://schemas.openxmlformats.org/drawingml/2006/main">
              <a:ext uri="{FF2B5EF4-FFF2-40B4-BE49-F238E27FC236}">
                <a16:creationId xmlns:a16="http://schemas.microsoft.com/office/drawing/2014/main" id="{0F36ECFB-0846-426C-B4BD-7BE27CBA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05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张量布局</a:t>
            </a:r>
          </a:p>
        </p:txBody>
      </p:sp>
      <p:sp>
        <p:nvSpPr>
          <p:cNvPr id="11" name="hard-body-1">
            <a:extLst xmlns:a="http://schemas.openxmlformats.org/drawingml/2006/main">
              <a:ext uri="{FF2B5EF4-FFF2-40B4-BE49-F238E27FC236}">
                <a16:creationId xmlns:a16="http://schemas.microsoft.com/office/drawing/2014/main" id="{51849807-C2E0-4D93-B8D2-F24233B2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860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BCB"/>
                </a:solidFill>
              </a:defRPr>
            </a:pPr>
            <a:r>
              <a:rPr sz="1350" b="0">
                <a:solidFill>
                  <a:srgbClr val="A7BBCB"/>
                </a:solidFill>
              </a:rPr>
              <a:t>NHWC/NCHW 与时间维重排必须严格对应，任何错位都会让共享卷积失效。</a:t>
            </a:r>
          </a:p>
        </p:txBody>
      </p:sp>
      <p:sp>
        <p:nvSpPr>
          <p:cNvPr id="12" name="hard-rule-1">
            <a:extLst xmlns:a="http://schemas.openxmlformats.org/drawingml/2006/main">
              <a:ext uri="{FF2B5EF4-FFF2-40B4-BE49-F238E27FC236}">
                <a16:creationId xmlns:a16="http://schemas.microsoft.com/office/drawing/2014/main" id="{087CD097-DD95-4E4D-B69C-533ED5B0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67100"/>
            <a:ext cx="963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ard-num-2">
            <a:extLst xmlns:a="http://schemas.openxmlformats.org/drawingml/2006/main">
              <a:ext uri="{FF2B5EF4-FFF2-40B4-BE49-F238E27FC236}">
                <a16:creationId xmlns:a16="http://schemas.microsoft.com/office/drawing/2014/main" id="{A4F31695-B5F4-464C-A4F1-0626FF57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CA72"/>
                </a:solidFill>
              </a:defRPr>
            </a:pPr>
            <a:r>
              <a:rPr sz="2400" b="1">
                <a:solidFill>
                  <a:srgbClr val="FFCA72"/>
                </a:solidFill>
              </a:rPr>
              <a:t>03</a:t>
            </a:r>
          </a:p>
        </p:txBody>
      </p:sp>
      <p:sp>
        <p:nvSpPr>
          <p:cNvPr id="14" name="hard-title-2">
            <a:extLst xmlns:a="http://schemas.openxmlformats.org/drawingml/2006/main">
              <a:ext uri="{FF2B5EF4-FFF2-40B4-BE49-F238E27FC236}">
                <a16:creationId xmlns:a16="http://schemas.microsoft.com/office/drawing/2014/main" id="{5E9473FF-CCF6-44CB-AFAE-CEE1C8C6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71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评价复现</a:t>
            </a:r>
          </a:p>
        </p:txBody>
      </p:sp>
      <p:sp>
        <p:nvSpPr>
          <p:cNvPr id="15" name="hard-body-2">
            <a:extLst xmlns:a="http://schemas.openxmlformats.org/drawingml/2006/main">
              <a:ext uri="{FF2B5EF4-FFF2-40B4-BE49-F238E27FC236}">
                <a16:creationId xmlns:a16="http://schemas.microsoft.com/office/drawing/2014/main" id="{59C915A4-04E8-4C56-A14A-117680D0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528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BCB"/>
                </a:solidFill>
              </a:defRPr>
            </a:pPr>
            <a:r>
              <a:rPr sz="1350" b="0">
                <a:solidFill>
                  <a:srgbClr val="A7BBCB"/>
                </a:solidFill>
              </a:rPr>
              <a:t>2080–2100 年、纬度余弦权重、Spatial + 5×Global 必须与官方口径一致。</a:t>
            </a:r>
          </a:p>
        </p:txBody>
      </p:sp>
      <p:sp>
        <p:nvSpPr>
          <p:cNvPr id="16" name="hard-rule-2">
            <a:extLst xmlns:a="http://schemas.openxmlformats.org/drawingml/2006/main">
              <a:ext uri="{FF2B5EF4-FFF2-40B4-BE49-F238E27FC236}">
                <a16:creationId xmlns:a16="http://schemas.microsoft.com/office/drawing/2014/main" id="{4A329D1C-8F0E-4AA9-BDA3-55253358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33900"/>
            <a:ext cx="963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ard-num-3">
            <a:extLst xmlns:a="http://schemas.openxmlformats.org/drawingml/2006/main">
              <a:ext uri="{FF2B5EF4-FFF2-40B4-BE49-F238E27FC236}">
                <a16:creationId xmlns:a16="http://schemas.microsoft.com/office/drawing/2014/main" id="{4CDB2016-54DB-4DC6-B7BA-56784A6E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7B78"/>
                </a:solidFill>
              </a:defRPr>
            </a:pPr>
            <a:r>
              <a:rPr sz="2400" b="1">
                <a:solidFill>
                  <a:srgbClr val="FF7B78"/>
                </a:solidFill>
              </a:rPr>
              <a:t>04</a:t>
            </a:r>
          </a:p>
        </p:txBody>
      </p:sp>
      <p:sp>
        <p:nvSpPr>
          <p:cNvPr id="18" name="hard-title-3">
            <a:extLst xmlns:a="http://schemas.openxmlformats.org/drawingml/2006/main">
              <a:ext uri="{FF2B5EF4-FFF2-40B4-BE49-F238E27FC236}">
                <a16:creationId xmlns:a16="http://schemas.microsoft.com/office/drawing/2014/main" id="{462F6349-F2DC-49B2-92A2-A9279BE0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38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产物闭环</a:t>
            </a:r>
          </a:p>
        </p:txBody>
      </p:sp>
      <p:sp>
        <p:nvSpPr>
          <p:cNvPr id="19" name="hard-body-3">
            <a:extLst xmlns:a="http://schemas.openxmlformats.org/drawingml/2006/main">
              <a:ext uri="{FF2B5EF4-FFF2-40B4-BE49-F238E27FC236}">
                <a16:creationId xmlns:a16="http://schemas.microsoft.com/office/drawing/2014/main" id="{E1464583-EFEF-4F50-9CDF-CEBEC4A9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196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BCB"/>
                </a:solidFill>
              </a:defRPr>
            </a:pPr>
            <a:r>
              <a:rPr sz="1350" b="0">
                <a:solidFill>
                  <a:srgbClr val="A7BBCB"/>
                </a:solidFill>
              </a:rPr>
              <a:t>checkpoint、标准化统计、NetCDF 坐标与可视化需保持同一数据协议。</a:t>
            </a:r>
          </a:p>
        </p:txBody>
      </p:sp>
      <p:sp>
        <p:nvSpPr>
          <p:cNvPr id="20" name="footer-5">
            <a:extLst xmlns:a="http://schemas.openxmlformats.org/drawingml/2006/main">
              <a:ext uri="{FF2B5EF4-FFF2-40B4-BE49-F238E27FC236}">
                <a16:creationId xmlns:a16="http://schemas.microsoft.com/office/drawing/2014/main" id="{A805396E-30A2-483F-AA4D-579E47C6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77086"/>
                </a:solidFill>
              </a:defRPr>
            </a:pPr>
            <a:r>
              <a:rPr sz="825" b="0">
                <a:solidFill>
                  <a:srgbClr val="577086"/>
                </a:solidFill>
              </a:rPr>
              <a:t>ClimateBench × MindSpore · 课程作业展示</a:t>
            </a:r>
          </a:p>
        </p:txBody>
      </p:sp>
    </p:spTree>
    <p:extLst>
      <p:ext uri="{BB962C8B-B14F-4D97-AF65-F5344CB8AC3E}">
        <p14:creationId xmlns:p14="http://schemas.microsoft.com/office/powerpoint/2010/main" val="206842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">
            <a:extLst xmlns:a="http://schemas.openxmlformats.org/drawingml/2006/main">
              <a:ext uri="{FF2B5EF4-FFF2-40B4-BE49-F238E27FC236}">
                <a16:creationId xmlns:a16="http://schemas.microsoft.com/office/drawing/2014/main" id="{60AC87CF-97FF-4642-8347-CC739474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C6B7"/>
                </a:solidFill>
              </a:defRPr>
            </a:pPr>
            <a:r>
              <a:rPr sz="1050" b="1">
                <a:solidFill>
                  <a:srgbClr val="20C6B7"/>
                </a:solidFill>
              </a:rPr>
              <a:t>05 · RESULTS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9BDA3E-1FB4-461B-9384-F169391C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复现结果：四项任务达到论文 baseline 同量级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DBA574E3-8563-410A-8578-6B8C7EB0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7086"/>
                </a:solidFill>
              </a:defRPr>
            </a:pPr>
            <a:r>
              <a:rPr sz="1050" b="1">
                <a:solidFill>
                  <a:srgbClr val="577086"/>
                </a:solidFill>
              </a:rPr>
              <a:t>06</a:t>
            </a:r>
          </a:p>
        </p:txBody>
      </p:sp>
      <p:sp>
        <p:nvSpPr>
          <p:cNvPr id="4" name="accent-6">
            <a:extLst xmlns:a="http://schemas.openxmlformats.org/drawingml/2006/main">
              <a:ext uri="{FF2B5EF4-FFF2-40B4-BE49-F238E27FC236}">
                <a16:creationId xmlns:a16="http://schemas.microsoft.com/office/drawing/2014/main" id="{0CEAED83-0AF9-41B1-811F-17B0D9A2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698E86DA-70C7-4D8F-B586-7C51CC4F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BCB"/>
                </a:solidFill>
              </a:defRPr>
            </a:pPr>
            <a:r>
              <a:rPr sz="1350" b="0">
                <a:solidFill>
                  <a:srgbClr val="A7BBCB"/>
                </a:solidFill>
              </a:rPr>
              <a:t>SSP245 · 2080–2100 · Total = Spatial + 5×Global · 越低越好</a:t>
            </a:r>
          </a:p>
        </p:txBody>
      </p:sp>
      <p:sp>
        <p:nvSpPr>
          <p:cNvPr id="6" name="chart-surface">
            <a:extLst xmlns:a="http://schemas.openxmlformats.org/drawingml/2006/main">
              <a:ext uri="{FF2B5EF4-FFF2-40B4-BE49-F238E27FC236}">
                <a16:creationId xmlns:a16="http://schemas.microsoft.com/office/drawing/2014/main" id="{7B6D150B-1301-4DD8-9915-ED89B952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933450" y="2266950"/>
          <a:ext xmlns:a="http://schemas.openxmlformats.org/drawingml/2006/main" cx="619125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7a5ae74234495e"/>
          </a:graphicData>
        </a:graphic>
      </p:graphicFrame>
      <p:sp>
        <p:nvSpPr>
          <p:cNvPr id="8" name="metric-chart-note">
            <a:extLst xmlns:a="http://schemas.openxmlformats.org/drawingml/2006/main">
              <a:ext uri="{FF2B5EF4-FFF2-40B4-BE49-F238E27FC236}">
                <a16:creationId xmlns:a16="http://schemas.microsoft.com/office/drawing/2014/main" id="{C925A622-9DE2-4948-962D-F17B94A3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911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7086"/>
                </a:solidFill>
              </a:defRPr>
            </a:pPr>
            <a:r>
              <a:rPr sz="975" b="0">
                <a:solidFill>
                  <a:srgbClr val="577086"/>
                </a:solidFill>
              </a:rPr>
              <a:t>相对原文 Total 差值（负值表示本作业总分更低）</a:t>
            </a:r>
          </a:p>
        </p:txBody>
      </p:sp>
      <p:sp>
        <p:nvSpPr>
          <p:cNvPr id="9" name="metric-side-title">
            <a:extLst xmlns:a="http://schemas.openxmlformats.org/drawingml/2006/main">
              <a:ext uri="{FF2B5EF4-FFF2-40B4-BE49-F238E27FC236}">
                <a16:creationId xmlns:a16="http://schemas.microsoft.com/office/drawing/2014/main" id="{83C47D59-F5F2-4965-AB04-179A8000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8FC"/>
                </a:solidFill>
              </a:defRPr>
            </a:pPr>
            <a:r>
              <a:rPr sz="1800" b="1">
                <a:solidFill>
                  <a:srgbClr val="F4F8FC"/>
                </a:solidFill>
              </a:rPr>
              <a:t>Total NRMSE</a:t>
            </a:r>
          </a:p>
        </p:txBody>
      </p:sp>
      <p:sp>
        <p:nvSpPr>
          <p:cNvPr id="10" name="score-name-0">
            <a:extLst xmlns:a="http://schemas.openxmlformats.org/drawingml/2006/main">
              <a:ext uri="{FF2B5EF4-FFF2-40B4-BE49-F238E27FC236}">
                <a16:creationId xmlns:a16="http://schemas.microsoft.com/office/drawing/2014/main" id="{62B0B9DC-2BE8-4977-ADBA-50C9EA76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C6B7"/>
                </a:solidFill>
              </a:defRPr>
            </a:pPr>
            <a:r>
              <a:rPr sz="1350" b="1">
                <a:solidFill>
                  <a:srgbClr val="20C6B7"/>
                </a:solidFill>
              </a:rPr>
              <a:t>tas</a:t>
            </a:r>
          </a:p>
        </p:txBody>
      </p:sp>
      <p:sp>
        <p:nvSpPr>
          <p:cNvPr id="11" name="score-value-0">
            <a:extLst xmlns:a="http://schemas.openxmlformats.org/drawingml/2006/main">
              <a:ext uri="{FF2B5EF4-FFF2-40B4-BE49-F238E27FC236}">
                <a16:creationId xmlns:a16="http://schemas.microsoft.com/office/drawing/2014/main" id="{0035DD0D-D040-4C83-A3A3-6D5851A5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33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8FC"/>
                </a:solidFill>
              </a:defRPr>
            </a:pPr>
            <a:r>
              <a:rPr sz="1950" b="1">
                <a:solidFill>
                  <a:srgbClr val="F4F8FC"/>
                </a:solidFill>
              </a:rPr>
              <a:t>0.3275</a:t>
            </a:r>
          </a:p>
        </p:txBody>
      </p:sp>
      <p:sp>
        <p:nvSpPr>
          <p:cNvPr id="12" name="score-ref-0">
            <a:extLst xmlns:a="http://schemas.openxmlformats.org/drawingml/2006/main">
              <a:ext uri="{FF2B5EF4-FFF2-40B4-BE49-F238E27FC236}">
                <a16:creationId xmlns:a16="http://schemas.microsoft.com/office/drawing/2014/main" id="{F596ECAF-5741-4610-8FD2-B838A36A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908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BCB"/>
                </a:solidFill>
              </a:defRPr>
            </a:pPr>
            <a:r>
              <a:rPr sz="1050" b="0">
                <a:solidFill>
                  <a:srgbClr val="A7BBCB"/>
                </a:solidFill>
              </a:rPr>
              <a:t>原文 0.3274</a:t>
            </a:r>
          </a:p>
        </p:txBody>
      </p:sp>
      <p:sp>
        <p:nvSpPr>
          <p:cNvPr id="13" name="score-name-1">
            <a:extLst xmlns:a="http://schemas.openxmlformats.org/drawingml/2006/main">
              <a:ext uri="{FF2B5EF4-FFF2-40B4-BE49-F238E27FC236}">
                <a16:creationId xmlns:a16="http://schemas.microsoft.com/office/drawing/2014/main" id="{12B9DA11-E7AD-45D8-A90D-EFBE2010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95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A5FF"/>
                </a:solidFill>
              </a:defRPr>
            </a:pPr>
            <a:r>
              <a:rPr sz="1350" b="1">
                <a:solidFill>
                  <a:srgbClr val="59A5FF"/>
                </a:solidFill>
              </a:rPr>
              <a:t>pr</a:t>
            </a:r>
          </a:p>
        </p:txBody>
      </p:sp>
      <p:sp>
        <p:nvSpPr>
          <p:cNvPr id="14" name="score-value-1">
            <a:extLst xmlns:a="http://schemas.openxmlformats.org/drawingml/2006/main">
              <a:ext uri="{FF2B5EF4-FFF2-40B4-BE49-F238E27FC236}">
                <a16:creationId xmlns:a16="http://schemas.microsoft.com/office/drawing/2014/main" id="{095D2121-3792-4A43-BC9D-00C10E2C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57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8FC"/>
                </a:solidFill>
              </a:defRPr>
            </a:pPr>
            <a:r>
              <a:rPr sz="1950" b="1">
                <a:solidFill>
                  <a:srgbClr val="F4F8FC"/>
                </a:solidFill>
              </a:rPr>
              <a:t>3.0231</a:t>
            </a:r>
          </a:p>
        </p:txBody>
      </p:sp>
      <p:sp>
        <p:nvSpPr>
          <p:cNvPr id="15" name="score-ref-1">
            <a:extLst xmlns:a="http://schemas.openxmlformats.org/drawingml/2006/main">
              <a:ext uri="{FF2B5EF4-FFF2-40B4-BE49-F238E27FC236}">
                <a16:creationId xmlns:a16="http://schemas.microsoft.com/office/drawing/2014/main" id="{5AA766F2-CA94-429E-85BB-0DEE86F1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3147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BCB"/>
                </a:solidFill>
              </a:defRPr>
            </a:pPr>
            <a:r>
              <a:rPr sz="1050" b="0">
                <a:solidFill>
                  <a:srgbClr val="A7BBCB"/>
                </a:solidFill>
              </a:rPr>
              <a:t>原文 3.1746</a:t>
            </a:r>
          </a:p>
        </p:txBody>
      </p:sp>
      <p:sp>
        <p:nvSpPr>
          <p:cNvPr id="16" name="score-name-2">
            <a:extLst xmlns:a="http://schemas.openxmlformats.org/drawingml/2006/main">
              <a:ext uri="{FF2B5EF4-FFF2-40B4-BE49-F238E27FC236}">
                <a16:creationId xmlns:a16="http://schemas.microsoft.com/office/drawing/2014/main" id="{74BCC877-53A3-4570-8360-85108344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95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A72"/>
                </a:solidFill>
              </a:defRPr>
            </a:pPr>
            <a:r>
              <a:rPr sz="1350" b="1">
                <a:solidFill>
                  <a:srgbClr val="FFCA72"/>
                </a:solidFill>
              </a:rPr>
              <a:t>DTR</a:t>
            </a:r>
          </a:p>
        </p:txBody>
      </p:sp>
      <p:sp>
        <p:nvSpPr>
          <p:cNvPr id="17" name="score-value-2">
            <a:extLst xmlns:a="http://schemas.openxmlformats.org/drawingml/2006/main">
              <a:ext uri="{FF2B5EF4-FFF2-40B4-BE49-F238E27FC236}">
                <a16:creationId xmlns:a16="http://schemas.microsoft.com/office/drawing/2014/main" id="{C2A82C2F-C7D6-4065-8ED6-C2C76C42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81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8FC"/>
                </a:solidFill>
              </a:defRPr>
            </a:pPr>
            <a:r>
              <a:rPr sz="1950" b="1">
                <a:solidFill>
                  <a:srgbClr val="F4F8FC"/>
                </a:solidFill>
              </a:rPr>
              <a:t>14.0277</a:t>
            </a:r>
          </a:p>
        </p:txBody>
      </p:sp>
      <p:sp>
        <p:nvSpPr>
          <p:cNvPr id="18" name="score-ref-2">
            <a:extLst xmlns:a="http://schemas.openxmlformats.org/drawingml/2006/main">
              <a:ext uri="{FF2B5EF4-FFF2-40B4-BE49-F238E27FC236}">
                <a16:creationId xmlns:a16="http://schemas.microsoft.com/office/drawing/2014/main" id="{6275B83B-D143-41CD-AAB7-371530D4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386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BCB"/>
                </a:solidFill>
              </a:defRPr>
            </a:pPr>
            <a:r>
              <a:rPr sz="1050" b="0">
                <a:solidFill>
                  <a:srgbClr val="A7BBCB"/>
                </a:solidFill>
              </a:rPr>
              <a:t>原文 16.7783</a:t>
            </a:r>
          </a:p>
        </p:txBody>
      </p:sp>
      <p:sp>
        <p:nvSpPr>
          <p:cNvPr id="19" name="score-name-3">
            <a:extLst xmlns:a="http://schemas.openxmlformats.org/drawingml/2006/main">
              <a:ext uri="{FF2B5EF4-FFF2-40B4-BE49-F238E27FC236}">
                <a16:creationId xmlns:a16="http://schemas.microsoft.com/office/drawing/2014/main" id="{9A2D502A-783E-4D03-8450-A6475559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434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B78"/>
                </a:solidFill>
              </a:defRPr>
            </a:pPr>
            <a:r>
              <a:rPr sz="1350" b="1">
                <a:solidFill>
                  <a:srgbClr val="FF7B78"/>
                </a:solidFill>
              </a:rPr>
              <a:t>pr90</a:t>
            </a:r>
          </a:p>
        </p:txBody>
      </p:sp>
      <p:sp>
        <p:nvSpPr>
          <p:cNvPr id="20" name="score-value-3">
            <a:extLst xmlns:a="http://schemas.openxmlformats.org/drawingml/2006/main">
              <a:ext uri="{FF2B5EF4-FFF2-40B4-BE49-F238E27FC236}">
                <a16:creationId xmlns:a16="http://schemas.microsoft.com/office/drawing/2014/main" id="{4EC3883C-65BE-46D5-ACCE-26E6C73B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8FC"/>
                </a:solidFill>
              </a:defRPr>
            </a:pPr>
            <a:r>
              <a:rPr sz="1950" b="1">
                <a:solidFill>
                  <a:srgbClr val="F4F8FC"/>
                </a:solidFill>
              </a:rPr>
              <a:t>3.9890</a:t>
            </a:r>
          </a:p>
        </p:txBody>
      </p:sp>
      <p:sp>
        <p:nvSpPr>
          <p:cNvPr id="21" name="score-ref-3">
            <a:extLst xmlns:a="http://schemas.openxmlformats.org/drawingml/2006/main">
              <a:ext uri="{FF2B5EF4-FFF2-40B4-BE49-F238E27FC236}">
                <a16:creationId xmlns:a16="http://schemas.microsoft.com/office/drawing/2014/main" id="{CB3EF575-0385-4227-87CB-B85F7097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625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BCB"/>
                </a:solidFill>
              </a:defRPr>
            </a:pPr>
            <a:r>
              <a:rPr sz="1050" b="0">
                <a:solidFill>
                  <a:srgbClr val="A7BBCB"/>
                </a:solidFill>
              </a:rPr>
              <a:t>原文 4.3388</a:t>
            </a:r>
          </a:p>
        </p:txBody>
      </p:sp>
      <p:sp>
        <p:nvSpPr>
          <p:cNvPr id="22" name="metric-takeaway">
            <a:extLst xmlns:a="http://schemas.openxmlformats.org/drawingml/2006/main">
              <a:ext uri="{FF2B5EF4-FFF2-40B4-BE49-F238E27FC236}">
                <a16:creationId xmlns:a16="http://schemas.microsoft.com/office/drawing/2014/main" id="{7591BE4C-0F2E-45D8-B452-2790940E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388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C6B7"/>
                </a:solidFill>
              </a:defRPr>
            </a:pPr>
            <a:r>
              <a:rPr sz="1275" b="1">
                <a:solidFill>
                  <a:srgbClr val="20C6B7"/>
                </a:solidFill>
              </a:rPr>
              <a:t>tas 几乎完全复现；pr、DTR、pr90 的 Total 均低于论文单次 baseline。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5E33D35C-E285-40D7-BB59-6F3F91CA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77086"/>
                </a:solidFill>
              </a:defRPr>
            </a:pPr>
            <a:r>
              <a:rPr sz="825" b="0">
                <a:solidFill>
                  <a:srgbClr val="577086"/>
                </a:solidFill>
              </a:rPr>
              <a:t>ClimateBench × MindSpore · 课程作业展示</a:t>
            </a:r>
          </a:p>
        </p:txBody>
      </p:sp>
    </p:spTree>
    <p:extLst>
      <p:ext uri="{BB962C8B-B14F-4D97-AF65-F5344CB8AC3E}">
        <p14:creationId xmlns:p14="http://schemas.microsoft.com/office/powerpoint/2010/main" val="10875668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">
            <a:extLst xmlns:a="http://schemas.openxmlformats.org/drawingml/2006/main">
              <a:ext uri="{FF2B5EF4-FFF2-40B4-BE49-F238E27FC236}">
                <a16:creationId xmlns:a16="http://schemas.microsoft.com/office/drawing/2014/main" id="{60E7EDE9-AFD4-4901-8A24-4CEFFD48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C6B7"/>
                </a:solidFill>
              </a:defRPr>
            </a:pPr>
            <a:r>
              <a:rPr sz="1050" b="1">
                <a:solidFill>
                  <a:srgbClr val="20C6B7"/>
                </a:solidFill>
              </a:rPr>
              <a:t>06 · SPATIAL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222BC24-8516-4499-9E04-9FEE7722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温度场：大尺度结构恢复稳定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3736A9EF-8FFE-4702-B34B-3C38B2CC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7086"/>
                </a:solidFill>
              </a:defRPr>
            </a:pPr>
            <a:r>
              <a:rPr sz="1050" b="1">
                <a:solidFill>
                  <a:srgbClr val="577086"/>
                </a:solidFill>
              </a:rPr>
              <a:t>07</a:t>
            </a:r>
          </a:p>
        </p:txBody>
      </p:sp>
      <p:sp>
        <p:nvSpPr>
          <p:cNvPr id="4" name="accent-7">
            <a:extLst xmlns:a="http://schemas.openxmlformats.org/drawingml/2006/main">
              <a:ext uri="{FF2B5EF4-FFF2-40B4-BE49-F238E27FC236}">
                <a16:creationId xmlns:a16="http://schemas.microsoft.com/office/drawing/2014/main" id="{124E0622-301A-4334-AD33-CF8C99FF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as-frame-0">
            <a:extLst xmlns:a="http://schemas.openxmlformats.org/drawingml/2006/main">
              <a:ext uri="{FF2B5EF4-FFF2-40B4-BE49-F238E27FC236}">
                <a16:creationId xmlns:a16="http://schemas.microsoft.com/office/drawing/2014/main" id="{7A7D2040-1D3B-4E02-9738-3931CE6A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718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20c03e1c941b3"/>
          <a:stretch xmlns:a="http://schemas.openxmlformats.org/drawingml/2006/main"/>
        </p:blipFill>
        <p:spPr>
          <a:xfrm xmlns:a="http://schemas.openxmlformats.org/drawingml/2006/main">
            <a:off x="800100" y="2262188"/>
            <a:ext cx="3143250" cy="1571625"/>
          </a:xfrm>
          <a:prstGeom xmlns:a="http://schemas.openxmlformats.org/drawingml/2006/main" prst="rect">
            <a:avLst/>
          </a:prstGeom>
        </p:spPr>
      </p:pic>
      <p:sp>
        <p:nvSpPr>
          <p:cNvPr id="7" name="tas-label-0">
            <a:extLst xmlns:a="http://schemas.openxmlformats.org/drawingml/2006/main">
              <a:ext uri="{FF2B5EF4-FFF2-40B4-BE49-F238E27FC236}">
                <a16:creationId xmlns:a16="http://schemas.microsoft.com/office/drawing/2014/main" id="{BA2C2A1E-9C68-46A7-9052-5B31DA95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9445D"/>
                </a:solidFill>
              </a:defRPr>
            </a:pPr>
            <a:r>
              <a:rPr sz="1200" b="1">
                <a:solidFill>
                  <a:srgbClr val="29445D"/>
                </a:solidFill>
              </a:rPr>
              <a:t>真值</a:t>
            </a:r>
          </a:p>
        </p:txBody>
      </p:sp>
      <p:sp>
        <p:nvSpPr>
          <p:cNvPr id="8" name="tas-frame-1">
            <a:extLst xmlns:a="http://schemas.openxmlformats.org/drawingml/2006/main">
              <a:ext uri="{FF2B5EF4-FFF2-40B4-BE49-F238E27FC236}">
                <a16:creationId xmlns:a16="http://schemas.microsoft.com/office/drawing/2014/main" id="{F62F87E9-67A4-4682-919A-E9C8F28F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3718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54fb802a04e68"/>
          <a:stretch xmlns:a="http://schemas.openxmlformats.org/drawingml/2006/main"/>
        </p:blipFill>
        <p:spPr>
          <a:xfrm xmlns:a="http://schemas.openxmlformats.org/drawingml/2006/main">
            <a:off x="4419600" y="2262188"/>
            <a:ext cx="3143250" cy="1571625"/>
          </a:xfrm>
          <a:prstGeom xmlns:a="http://schemas.openxmlformats.org/drawingml/2006/main" prst="rect">
            <a:avLst/>
          </a:prstGeom>
        </p:spPr>
      </p:pic>
      <p:sp>
        <p:nvSpPr>
          <p:cNvPr id="10" name="tas-label-1">
            <a:extLst xmlns:a="http://schemas.openxmlformats.org/drawingml/2006/main">
              <a:ext uri="{FF2B5EF4-FFF2-40B4-BE49-F238E27FC236}">
                <a16:creationId xmlns:a16="http://schemas.microsoft.com/office/drawing/2014/main" id="{92996D27-AF37-483E-A0E8-35F5275A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481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9445D"/>
                </a:solidFill>
              </a:defRPr>
            </a:pPr>
            <a:r>
              <a:rPr sz="1200" b="1">
                <a:solidFill>
                  <a:srgbClr val="29445D"/>
                </a:solidFill>
              </a:rPr>
              <a:t>预测</a:t>
            </a:r>
          </a:p>
        </p:txBody>
      </p:sp>
      <p:sp>
        <p:nvSpPr>
          <p:cNvPr id="11" name="tas-frame-2">
            <a:extLst xmlns:a="http://schemas.openxmlformats.org/drawingml/2006/main">
              <a:ext uri="{FF2B5EF4-FFF2-40B4-BE49-F238E27FC236}">
                <a16:creationId xmlns:a16="http://schemas.microsoft.com/office/drawing/2014/main" id="{344D0762-026C-43DD-AD8A-4731594C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3718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9e5ec4dd94683"/>
          <a:stretch xmlns:a="http://schemas.openxmlformats.org/drawingml/2006/main"/>
        </p:blipFill>
        <p:spPr>
          <a:xfrm xmlns:a="http://schemas.openxmlformats.org/drawingml/2006/main">
            <a:off x="8039100" y="2262188"/>
            <a:ext cx="3143250" cy="1571625"/>
          </a:xfrm>
          <a:prstGeom xmlns:a="http://schemas.openxmlformats.org/drawingml/2006/main" prst="rect">
            <a:avLst/>
          </a:prstGeom>
        </p:spPr>
      </p:pic>
      <p:sp>
        <p:nvSpPr>
          <p:cNvPr id="13" name="tas-label-2">
            <a:extLst xmlns:a="http://schemas.openxmlformats.org/drawingml/2006/main">
              <a:ext uri="{FF2B5EF4-FFF2-40B4-BE49-F238E27FC236}">
                <a16:creationId xmlns:a16="http://schemas.microsoft.com/office/drawing/2014/main" id="{AE197ED2-5E9C-45F7-8865-922E2DA0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481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9445D"/>
                </a:solidFill>
              </a:defRPr>
            </a:pPr>
            <a:r>
              <a:rPr sz="1200" b="1">
                <a:solidFill>
                  <a:srgbClr val="29445D"/>
                </a:solidFill>
              </a:rPr>
              <a:t>误差（预测−真值）</a:t>
            </a:r>
          </a:p>
        </p:txBody>
      </p:sp>
      <p:sp>
        <p:nvSpPr>
          <p:cNvPr id="14" name="tas-takeaway-title">
            <a:extLst xmlns:a="http://schemas.openxmlformats.org/drawingml/2006/main">
              <a:ext uri="{FF2B5EF4-FFF2-40B4-BE49-F238E27FC236}">
                <a16:creationId xmlns:a16="http://schemas.microsoft.com/office/drawing/2014/main" id="{BA2BBD5C-9C3C-4C20-A8D5-1F1ADBC6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读图结论</a:t>
            </a:r>
          </a:p>
        </p:txBody>
      </p:sp>
      <p:sp>
        <p:nvSpPr>
          <p:cNvPr id="15" name="tas-takeaway">
            <a:extLst xmlns:a="http://schemas.openxmlformats.org/drawingml/2006/main">
              <a:ext uri="{FF2B5EF4-FFF2-40B4-BE49-F238E27FC236}">
                <a16:creationId xmlns:a16="http://schemas.microsoft.com/office/drawing/2014/main" id="{C39CD33E-7502-4C12-B833-BC183A78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292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BBCB"/>
                </a:solidFill>
              </a:defRPr>
            </a:pPr>
            <a:r>
              <a:rPr sz="1425" b="0">
                <a:solidFill>
                  <a:srgbClr val="A7BBCB"/>
                </a:solidFill>
              </a:rPr>
              <a:t>正确再现北极放大与北大西洋局地弱增暖；主要误差集中在高纬度、南大洋及部分陆地区域。</a:t>
            </a:r>
          </a:p>
        </p:txBody>
      </p:sp>
      <p:sp>
        <p:nvSpPr>
          <p:cNvPr id="16" name="tas-score">
            <a:extLst xmlns:a="http://schemas.openxmlformats.org/drawingml/2006/main">
              <a:ext uri="{FF2B5EF4-FFF2-40B4-BE49-F238E27FC236}">
                <a16:creationId xmlns:a16="http://schemas.microsoft.com/office/drawing/2014/main" id="{DCFC4995-9F49-4FC9-9BB8-64A3DCEA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531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0C6B7"/>
                </a:solidFill>
              </a:defRPr>
            </a:pPr>
            <a:r>
              <a:rPr sz="1425" b="1">
                <a:solidFill>
                  <a:srgbClr val="20C6B7"/>
                </a:solidFill>
              </a:rPr>
              <a:t>Spatial NRMSE 0.0646</a:t>
            </a:r>
          </a:p>
        </p:txBody>
      </p:sp>
      <p:sp>
        <p:nvSpPr>
          <p:cNvPr id="17" name="footer-7">
            <a:extLst xmlns:a="http://schemas.openxmlformats.org/drawingml/2006/main">
              <a:ext uri="{FF2B5EF4-FFF2-40B4-BE49-F238E27FC236}">
                <a16:creationId xmlns:a16="http://schemas.microsoft.com/office/drawing/2014/main" id="{6243AC22-7B0F-4F20-B82B-4184B248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77086"/>
                </a:solidFill>
              </a:defRPr>
            </a:pPr>
            <a:r>
              <a:rPr sz="825" b="0">
                <a:solidFill>
                  <a:srgbClr val="577086"/>
                </a:solidFill>
              </a:rPr>
              <a:t>ClimateBench × MindSpore · 课程作业展示</a:t>
            </a:r>
          </a:p>
        </p:txBody>
      </p:sp>
    </p:spTree>
    <p:extLst>
      <p:ext uri="{BB962C8B-B14F-4D97-AF65-F5344CB8AC3E}">
        <p14:creationId xmlns:p14="http://schemas.microsoft.com/office/powerpoint/2010/main" val="773754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">
            <a:extLst xmlns:a="http://schemas.openxmlformats.org/drawingml/2006/main">
              <a:ext uri="{FF2B5EF4-FFF2-40B4-BE49-F238E27FC236}">
                <a16:creationId xmlns:a16="http://schemas.microsoft.com/office/drawing/2014/main" id="{1926248B-1628-41DE-81D8-BC99FE0D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C6B7"/>
                </a:solidFill>
              </a:defRPr>
            </a:pPr>
            <a:r>
              <a:rPr sz="1050" b="1">
                <a:solidFill>
                  <a:srgbClr val="20C6B7"/>
                </a:solidFill>
              </a:rPr>
              <a:t>07 · LIMITS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0B350DB-B901-41EB-BE53-A1ADA43C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极端降水：能抓住异常带，但局地峰值仍困难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EA666B09-37C1-41BB-B6AC-4CAFF0F5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7086"/>
                </a:solidFill>
              </a:defRPr>
            </a:pPr>
            <a:r>
              <a:rPr sz="1050" b="1">
                <a:solidFill>
                  <a:srgbClr val="577086"/>
                </a:solidFill>
              </a:rPr>
              <a:t>08</a:t>
            </a:r>
          </a:p>
        </p:txBody>
      </p:sp>
      <p:sp>
        <p:nvSpPr>
          <p:cNvPr id="4" name="accent-8">
            <a:extLst xmlns:a="http://schemas.openxmlformats.org/drawingml/2006/main">
              <a:ext uri="{FF2B5EF4-FFF2-40B4-BE49-F238E27FC236}">
                <a16:creationId xmlns:a16="http://schemas.microsoft.com/office/drawing/2014/main" id="{8D276F61-0403-43FA-81DE-5EEE45B4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90-frame-0">
            <a:extLst xmlns:a="http://schemas.openxmlformats.org/drawingml/2006/main">
              <a:ext uri="{FF2B5EF4-FFF2-40B4-BE49-F238E27FC236}">
                <a16:creationId xmlns:a16="http://schemas.microsoft.com/office/drawing/2014/main" id="{493AE120-DCC8-4C3A-A0CD-CE97C0ED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718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4699b78ee4d23"/>
          <a:stretch xmlns:a="http://schemas.openxmlformats.org/drawingml/2006/main"/>
        </p:blipFill>
        <p:spPr>
          <a:xfrm xmlns:a="http://schemas.openxmlformats.org/drawingml/2006/main">
            <a:off x="800100" y="2262188"/>
            <a:ext cx="3143250" cy="1571625"/>
          </a:xfrm>
          <a:prstGeom xmlns:a="http://schemas.openxmlformats.org/drawingml/2006/main" prst="rect">
            <a:avLst/>
          </a:prstGeom>
        </p:spPr>
      </p:pic>
      <p:sp>
        <p:nvSpPr>
          <p:cNvPr id="7" name="pr90-label-0">
            <a:extLst xmlns:a="http://schemas.openxmlformats.org/drawingml/2006/main">
              <a:ext uri="{FF2B5EF4-FFF2-40B4-BE49-F238E27FC236}">
                <a16:creationId xmlns:a16="http://schemas.microsoft.com/office/drawing/2014/main" id="{791BB820-D470-4033-AFA5-A5E93DF5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9445D"/>
                </a:solidFill>
              </a:defRPr>
            </a:pPr>
            <a:r>
              <a:rPr sz="1200" b="1">
                <a:solidFill>
                  <a:srgbClr val="29445D"/>
                </a:solidFill>
              </a:rPr>
              <a:t>真值</a:t>
            </a:r>
          </a:p>
        </p:txBody>
      </p:sp>
      <p:sp>
        <p:nvSpPr>
          <p:cNvPr id="8" name="pr90-frame-1">
            <a:extLst xmlns:a="http://schemas.openxmlformats.org/drawingml/2006/main">
              <a:ext uri="{FF2B5EF4-FFF2-40B4-BE49-F238E27FC236}">
                <a16:creationId xmlns:a16="http://schemas.microsoft.com/office/drawing/2014/main" id="{180DC27E-815A-48FC-8EDD-DD4FE076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3718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99a8e9304454a"/>
          <a:stretch xmlns:a="http://schemas.openxmlformats.org/drawingml/2006/main"/>
        </p:blipFill>
        <p:spPr>
          <a:xfrm xmlns:a="http://schemas.openxmlformats.org/drawingml/2006/main">
            <a:off x="4419600" y="2262188"/>
            <a:ext cx="3143250" cy="1571625"/>
          </a:xfrm>
          <a:prstGeom xmlns:a="http://schemas.openxmlformats.org/drawingml/2006/main" prst="rect">
            <a:avLst/>
          </a:prstGeom>
        </p:spPr>
      </p:pic>
      <p:sp>
        <p:nvSpPr>
          <p:cNvPr id="10" name="pr90-label-1">
            <a:extLst xmlns:a="http://schemas.openxmlformats.org/drawingml/2006/main">
              <a:ext uri="{FF2B5EF4-FFF2-40B4-BE49-F238E27FC236}">
                <a16:creationId xmlns:a16="http://schemas.microsoft.com/office/drawing/2014/main" id="{64418AC3-3DFA-4037-BA15-2014475F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481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9445D"/>
                </a:solidFill>
              </a:defRPr>
            </a:pPr>
            <a:r>
              <a:rPr sz="1200" b="1">
                <a:solidFill>
                  <a:srgbClr val="29445D"/>
                </a:solidFill>
              </a:rPr>
              <a:t>预测</a:t>
            </a:r>
          </a:p>
        </p:txBody>
      </p:sp>
      <p:sp>
        <p:nvSpPr>
          <p:cNvPr id="11" name="pr90-frame-2">
            <a:extLst xmlns:a="http://schemas.openxmlformats.org/drawingml/2006/main">
              <a:ext uri="{FF2B5EF4-FFF2-40B4-BE49-F238E27FC236}">
                <a16:creationId xmlns:a16="http://schemas.microsoft.com/office/drawing/2014/main" id="{5FB4DA60-F2AF-4644-BF55-6C1CAC05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3718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42a5b00074beb"/>
          <a:stretch xmlns:a="http://schemas.openxmlformats.org/drawingml/2006/main"/>
        </p:blipFill>
        <p:spPr>
          <a:xfrm xmlns:a="http://schemas.openxmlformats.org/drawingml/2006/main">
            <a:off x="8039100" y="2262188"/>
            <a:ext cx="3143250" cy="1571625"/>
          </a:xfrm>
          <a:prstGeom xmlns:a="http://schemas.openxmlformats.org/drawingml/2006/main" prst="rect">
            <a:avLst/>
          </a:prstGeom>
        </p:spPr>
      </p:pic>
      <p:sp>
        <p:nvSpPr>
          <p:cNvPr id="13" name="pr90-label-2">
            <a:extLst xmlns:a="http://schemas.openxmlformats.org/drawingml/2006/main">
              <a:ext uri="{FF2B5EF4-FFF2-40B4-BE49-F238E27FC236}">
                <a16:creationId xmlns:a16="http://schemas.microsoft.com/office/drawing/2014/main" id="{B4B729FA-6D0F-415D-AEE1-FC6FAC2B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481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9445D"/>
                </a:solidFill>
              </a:defRPr>
            </a:pPr>
            <a:r>
              <a:rPr sz="1200" b="1">
                <a:solidFill>
                  <a:srgbClr val="29445D"/>
                </a:solidFill>
              </a:rPr>
              <a:t>误差（预测−真值）</a:t>
            </a:r>
          </a:p>
        </p:txBody>
      </p:sp>
      <p:sp>
        <p:nvSpPr>
          <p:cNvPr id="14" name="pr90-takeaway-title">
            <a:extLst xmlns:a="http://schemas.openxmlformats.org/drawingml/2006/main">
              <a:ext uri="{FF2B5EF4-FFF2-40B4-BE49-F238E27FC236}">
                <a16:creationId xmlns:a16="http://schemas.microsoft.com/office/drawing/2014/main" id="{BF8AEA0F-C7C2-46AF-AA21-4EAD3E75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剩余难点</a:t>
            </a:r>
          </a:p>
        </p:txBody>
      </p:sp>
      <p:sp>
        <p:nvSpPr>
          <p:cNvPr id="15" name="pr90-takeaway">
            <a:extLst xmlns:a="http://schemas.openxmlformats.org/drawingml/2006/main">
              <a:ext uri="{FF2B5EF4-FFF2-40B4-BE49-F238E27FC236}">
                <a16:creationId xmlns:a16="http://schemas.microsoft.com/office/drawing/2014/main" id="{1BC1E025-8362-4E30-AE8B-D664E0EB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292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BBCB"/>
                </a:solidFill>
              </a:defRPr>
            </a:pPr>
            <a:r>
              <a:rPr sz="1425" b="0">
                <a:solidFill>
                  <a:srgbClr val="A7BBCB"/>
                </a:solidFill>
              </a:rPr>
              <a:t>预测场偏平滑，误差集中在热带辐合带两侧；极端降水更依赖局地环流、海气耦合与气溶胶影响。</a:t>
            </a:r>
          </a:p>
        </p:txBody>
      </p:sp>
      <p:sp>
        <p:nvSpPr>
          <p:cNvPr id="16" name="pr90-score">
            <a:extLst xmlns:a="http://schemas.openxmlformats.org/drawingml/2006/main">
              <a:ext uri="{FF2B5EF4-FFF2-40B4-BE49-F238E27FC236}">
                <a16:creationId xmlns:a16="http://schemas.microsoft.com/office/drawing/2014/main" id="{9E6212BF-3140-4428-8B49-899B5EC9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531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CA72"/>
                </a:solidFill>
              </a:defRPr>
            </a:pPr>
            <a:r>
              <a:rPr sz="1425" b="1">
                <a:solidFill>
                  <a:srgbClr val="FFCA72"/>
                </a:solidFill>
              </a:rPr>
              <a:t>Spatial NRMSE 2.3939</a:t>
            </a:r>
          </a:p>
        </p:txBody>
      </p:sp>
      <p:sp>
        <p:nvSpPr>
          <p:cNvPr id="17" name="footer-8">
            <a:extLst xmlns:a="http://schemas.openxmlformats.org/drawingml/2006/main">
              <a:ext uri="{FF2B5EF4-FFF2-40B4-BE49-F238E27FC236}">
                <a16:creationId xmlns:a16="http://schemas.microsoft.com/office/drawing/2014/main" id="{36E98E0B-E652-4E82-9F79-2A9A68E8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77086"/>
                </a:solidFill>
              </a:defRPr>
            </a:pPr>
            <a:r>
              <a:rPr sz="825" b="0">
                <a:solidFill>
                  <a:srgbClr val="577086"/>
                </a:solidFill>
              </a:rPr>
              <a:t>ClimateBench × MindSpore · 课程作业展示</a:t>
            </a:r>
          </a:p>
        </p:txBody>
      </p:sp>
    </p:spTree>
    <p:extLst>
      <p:ext uri="{BB962C8B-B14F-4D97-AF65-F5344CB8AC3E}">
        <p14:creationId xmlns:p14="http://schemas.microsoft.com/office/powerpoint/2010/main" val="1304987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nd-kicker">
            <a:extLst xmlns:a="http://schemas.openxmlformats.org/drawingml/2006/main">
              <a:ext uri="{FF2B5EF4-FFF2-40B4-BE49-F238E27FC236}">
                <a16:creationId xmlns:a16="http://schemas.microsoft.com/office/drawing/2014/main" id="{7866DBD6-3C9C-400F-8938-A0CB05E7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C6B7"/>
                </a:solidFill>
              </a:defRPr>
            </a:pPr>
            <a:r>
              <a:rPr sz="1200" b="1">
                <a:solidFill>
                  <a:srgbClr val="20C6B7"/>
                </a:solidFill>
              </a:rPr>
              <a:t>TAKEAWAYS</a:t>
            </a:r>
          </a:p>
        </p:txBody>
      </p:sp>
      <p:sp>
        <p:nvSpPr>
          <p:cNvPr id="2" name="end-title">
            <a:extLst xmlns:a="http://schemas.openxmlformats.org/drawingml/2006/main">
              <a:ext uri="{FF2B5EF4-FFF2-40B4-BE49-F238E27FC236}">
                <a16:creationId xmlns:a16="http://schemas.microsoft.com/office/drawing/2014/main" id="{25835ED7-7202-4BC5-8EDA-463E0BA2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C"/>
                </a:solidFill>
              </a:defRPr>
            </a:pPr>
            <a:r>
              <a:rPr sz="3150" b="1">
                <a:solidFill>
                  <a:srgbClr val="F4F8FC"/>
                </a:solidFill>
              </a:rPr>
              <a:t>这次复现真正验证了什么？</a:t>
            </a:r>
          </a:p>
        </p:txBody>
      </p:sp>
      <p:sp>
        <p:nvSpPr>
          <p:cNvPr id="3" name="end-num-0">
            <a:extLst xmlns:a="http://schemas.openxmlformats.org/drawingml/2006/main">
              <a:ext uri="{FF2B5EF4-FFF2-40B4-BE49-F238E27FC236}">
                <a16:creationId xmlns:a16="http://schemas.microsoft.com/office/drawing/2014/main" id="{8071FBEF-5A95-47E2-A5F2-FBF3EFC6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C6B7"/>
                </a:solidFill>
              </a:defRPr>
            </a:pPr>
            <a:r>
              <a:rPr sz="2100" b="1">
                <a:solidFill>
                  <a:srgbClr val="20C6B7"/>
                </a:solidFill>
              </a:rPr>
              <a:t>01</a:t>
            </a:r>
          </a:p>
        </p:txBody>
      </p:sp>
      <p:sp>
        <p:nvSpPr>
          <p:cNvPr id="4" name="end-head-0">
            <a:extLst xmlns:a="http://schemas.openxmlformats.org/drawingml/2006/main">
              <a:ext uri="{FF2B5EF4-FFF2-40B4-BE49-F238E27FC236}">
                <a16:creationId xmlns:a16="http://schemas.microsoft.com/office/drawing/2014/main" id="{0E08D9FF-797D-4A12-8CB2-22F92A80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95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协议比模型名更重要</a:t>
            </a:r>
          </a:p>
        </p:txBody>
      </p:sp>
      <p:sp>
        <p:nvSpPr>
          <p:cNvPr id="5" name="end-body-0">
            <a:extLst xmlns:a="http://schemas.openxmlformats.org/drawingml/2006/main">
              <a:ext uri="{FF2B5EF4-FFF2-40B4-BE49-F238E27FC236}">
                <a16:creationId xmlns:a16="http://schemas.microsoft.com/office/drawing/2014/main" id="{FB375F9F-1E56-4F31-B442-79869020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955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BCB"/>
                </a:solidFill>
              </a:defRPr>
            </a:pPr>
            <a:r>
              <a:rPr sz="1275" b="0">
                <a:solidFill>
                  <a:srgbClr val="A7BBCB"/>
                </a:solidFill>
              </a:rPr>
              <a:t>场景划分、时间窗口、单位与评价口径决定结果是否可比。</a:t>
            </a:r>
          </a:p>
        </p:txBody>
      </p:sp>
      <p:sp>
        <p:nvSpPr>
          <p:cNvPr id="6" name="end-num-1">
            <a:extLst xmlns:a="http://schemas.openxmlformats.org/drawingml/2006/main">
              <a:ext uri="{FF2B5EF4-FFF2-40B4-BE49-F238E27FC236}">
                <a16:creationId xmlns:a16="http://schemas.microsoft.com/office/drawing/2014/main" id="{A317B2C6-B038-436C-B09F-EA1418D3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C6B7"/>
                </a:solidFill>
              </a:defRPr>
            </a:pPr>
            <a:r>
              <a:rPr sz="2100" b="1">
                <a:solidFill>
                  <a:srgbClr val="20C6B7"/>
                </a:solidFill>
              </a:rPr>
              <a:t>02</a:t>
            </a:r>
          </a:p>
        </p:txBody>
      </p:sp>
      <p:sp>
        <p:nvSpPr>
          <p:cNvPr id="7" name="end-head-1">
            <a:extLst xmlns:a="http://schemas.openxmlformats.org/drawingml/2006/main">
              <a:ext uri="{FF2B5EF4-FFF2-40B4-BE49-F238E27FC236}">
                <a16:creationId xmlns:a16="http://schemas.microsoft.com/office/drawing/2014/main" id="{775E1CD5-44B5-438B-B8C8-D24DB87D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71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框架迁移要保持信息流</a:t>
            </a:r>
          </a:p>
        </p:txBody>
      </p:sp>
      <p:sp>
        <p:nvSpPr>
          <p:cNvPr id="8" name="end-body-1">
            <a:extLst xmlns:a="http://schemas.openxmlformats.org/drawingml/2006/main">
              <a:ext uri="{FF2B5EF4-FFF2-40B4-BE49-F238E27FC236}">
                <a16:creationId xmlns:a16="http://schemas.microsoft.com/office/drawing/2014/main" id="{7C440417-FB81-40A6-B0A6-054AC0E3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718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BCB"/>
                </a:solidFill>
              </a:defRPr>
            </a:pPr>
            <a:r>
              <a:rPr sz="1275" b="0">
                <a:solidFill>
                  <a:srgbClr val="A7BBCB"/>
                </a:solidFill>
              </a:rPr>
              <a:t>TimeDistributed 的共享语义可通过张量重排与共享 Conv2d 实现。</a:t>
            </a:r>
          </a:p>
        </p:txBody>
      </p:sp>
      <p:sp>
        <p:nvSpPr>
          <p:cNvPr id="9" name="end-num-2">
            <a:extLst xmlns:a="http://schemas.openxmlformats.org/drawingml/2006/main">
              <a:ext uri="{FF2B5EF4-FFF2-40B4-BE49-F238E27FC236}">
                <a16:creationId xmlns:a16="http://schemas.microsoft.com/office/drawing/2014/main" id="{1607E282-9F83-4595-BCB9-12D97604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C6B7"/>
                </a:solidFill>
              </a:defRPr>
            </a:pPr>
            <a:r>
              <a:rPr sz="2100" b="1">
                <a:solidFill>
                  <a:srgbClr val="20C6B7"/>
                </a:solidFill>
              </a:rPr>
              <a:t>03</a:t>
            </a:r>
          </a:p>
        </p:txBody>
      </p:sp>
      <p:sp>
        <p:nvSpPr>
          <p:cNvPr id="10" name="end-head-2">
            <a:extLst xmlns:a="http://schemas.openxmlformats.org/drawingml/2006/main">
              <a:ext uri="{FF2B5EF4-FFF2-40B4-BE49-F238E27FC236}">
                <a16:creationId xmlns:a16="http://schemas.microsoft.com/office/drawing/2014/main" id="{FB94FC9B-471E-4B56-A7A0-C0304FFC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48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大尺度响应可复现</a:t>
            </a:r>
          </a:p>
        </p:txBody>
      </p:sp>
      <p:sp>
        <p:nvSpPr>
          <p:cNvPr id="11" name="end-body-2">
            <a:extLst xmlns:a="http://schemas.openxmlformats.org/drawingml/2006/main">
              <a:ext uri="{FF2B5EF4-FFF2-40B4-BE49-F238E27FC236}">
                <a16:creationId xmlns:a16="http://schemas.microsoft.com/office/drawing/2014/main" id="{2B35643D-FD14-4D31-864C-7BBC2314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481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BCB"/>
                </a:solidFill>
              </a:defRPr>
            </a:pPr>
            <a:r>
              <a:rPr sz="1275" b="0">
                <a:solidFill>
                  <a:srgbClr val="A7BBCB"/>
                </a:solidFill>
              </a:rPr>
              <a:t>tas 与论文高度一致，四项任务均达到 baseline 同量级。</a:t>
            </a:r>
          </a:p>
        </p:txBody>
      </p:sp>
      <p:sp>
        <p:nvSpPr>
          <p:cNvPr id="12" name="end-num-3">
            <a:extLst xmlns:a="http://schemas.openxmlformats.org/drawingml/2006/main">
              <a:ext uri="{FF2B5EF4-FFF2-40B4-BE49-F238E27FC236}">
                <a16:creationId xmlns:a16="http://schemas.microsoft.com/office/drawing/2014/main" id="{60A15F4B-EBFB-45D1-A353-9F0E8E6B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CA72"/>
                </a:solidFill>
              </a:defRPr>
            </a:pPr>
            <a:r>
              <a:rPr sz="2100" b="1">
                <a:solidFill>
                  <a:srgbClr val="FFCA72"/>
                </a:solidFill>
              </a:rPr>
              <a:t>04</a:t>
            </a:r>
          </a:p>
        </p:txBody>
      </p:sp>
      <p:sp>
        <p:nvSpPr>
          <p:cNvPr id="13" name="end-head-3">
            <a:extLst xmlns:a="http://schemas.openxmlformats.org/drawingml/2006/main">
              <a:ext uri="{FF2B5EF4-FFF2-40B4-BE49-F238E27FC236}">
                <a16:creationId xmlns:a16="http://schemas.microsoft.com/office/drawing/2014/main" id="{3DCCBB4B-C9D4-446A-82BE-9FB3EC4A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24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极端事件仍是瓶颈</a:t>
            </a:r>
          </a:p>
        </p:txBody>
      </p:sp>
      <p:sp>
        <p:nvSpPr>
          <p:cNvPr id="14" name="end-body-3">
            <a:extLst xmlns:a="http://schemas.openxmlformats.org/drawingml/2006/main">
              <a:ext uri="{FF2B5EF4-FFF2-40B4-BE49-F238E27FC236}">
                <a16:creationId xmlns:a16="http://schemas.microsoft.com/office/drawing/2014/main" id="{818493CC-EDF2-49B3-8531-35EB12E1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244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BCB"/>
                </a:solidFill>
              </a:defRPr>
            </a:pPr>
            <a:r>
              <a:rPr sz="1275" b="0">
                <a:solidFill>
                  <a:srgbClr val="A7BBCB"/>
                </a:solidFill>
              </a:rPr>
              <a:t>下一步应关注概率预测、多变量联合与物理约束学习。</a:t>
            </a:r>
          </a:p>
        </p:txBody>
      </p:sp>
      <p:sp>
        <p:nvSpPr>
          <p:cNvPr id="15" name="end-thanks">
            <a:extLst xmlns:a="http://schemas.openxmlformats.org/drawingml/2006/main">
              <a:ext uri="{FF2B5EF4-FFF2-40B4-BE49-F238E27FC236}">
                <a16:creationId xmlns:a16="http://schemas.microsoft.com/office/drawing/2014/main" id="{B6B5747E-1E5B-4DA1-AB59-93F99DCB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C6B7"/>
                </a:solidFill>
              </a:defRPr>
            </a:pPr>
            <a:r>
              <a:rPr sz="1950" b="1">
                <a:solidFill>
                  <a:srgbClr val="20C6B7"/>
                </a:solidFill>
              </a:rPr>
              <a:t>谢谢</a:t>
            </a:r>
          </a:p>
        </p:txBody>
      </p:sp>
      <p:sp>
        <p:nvSpPr>
          <p:cNvPr id="16" name="end-footer">
            <a:extLst xmlns:a="http://schemas.openxmlformats.org/drawingml/2006/main">
              <a:ext uri="{FF2B5EF4-FFF2-40B4-BE49-F238E27FC236}">
                <a16:creationId xmlns:a16="http://schemas.microsoft.com/office/drawing/2014/main" id="{E07336E1-82BE-4B7B-905A-787B01C1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115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77086"/>
                </a:solidFill>
              </a:defRPr>
            </a:pPr>
            <a:r>
              <a:rPr sz="1200" b="1">
                <a:solidFill>
                  <a:srgbClr val="577086"/>
                </a:solidFill>
              </a:rPr>
              <a:t>ClimateBench-MindSpore</a:t>
            </a:r>
          </a:p>
        </p:txBody>
      </p:sp>
    </p:spTree>
    <p:extLst>
      <p:ext uri="{BB962C8B-B14F-4D97-AF65-F5344CB8AC3E}">
        <p14:creationId xmlns:p14="http://schemas.microsoft.com/office/powerpoint/2010/main" val="1951329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2026-06-22T06:35:03.4170000Z</dcterms:created>
  <dcterms:modified xsi:type="dcterms:W3CDTF">2026-06-22T06:35:03.4170000Z</dcterms:modified>
</coreProperties>
</file>